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450" autoAdjust="0"/>
  </p:normalViewPr>
  <p:slideViewPr>
    <p:cSldViewPr snapToGrid="0" snapToObjects="1">
      <p:cViewPr varScale="1">
        <p:scale>
          <a:sx n="87" d="100"/>
          <a:sy n="87" d="100"/>
        </p:scale>
        <p:origin x="14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Mensagem principal:</a:t>
            </a:r>
          </a:p>
          <a:p>
            <a:r>
              <a:t>- Esta não é uma modernização ampla da aplicação. É uma mudança de runtime controlada.</a:t>
            </a:r>
          </a:p>
          <a:p>
            <a:r>
              <a:t>- O critério de sucesso é preservar os fluxos e contratos e tornar riscos e pendências visíveis.</a:t>
            </a:r>
          </a:p>
          <a:p>
            <a:r>
              <a:t>- A apresentação separa explicitamente o que já foi comprovado do que ainda está em preparação.</a:t>
            </a:r>
          </a:p>
          <a:p>
            <a:endParaRPr/>
          </a:p>
          <a:p>
            <a:r>
              <a:t>Fonte: Briefing — Mensagem central; Estratégia §§1 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migração mantém Java 8, o namespace javax.* e os contratos da aplicação. EAP 7.4 é uma implementação de Jakarta EE 8, ainda baseada em javax.*, portanto não estamos migrando para Jakarta EE 9 nem convertendo para jakarta.*. O VS Code é a central de operações: Run Task aciona scripts de build, MTA, Sonar, OpenRewrite e, quando implementadas, tarefas Start/Stop/Deploy dos EAPs. O desenvolvedor segue um roteiro com entrada, saída e decisão por lote. O agente de migração classifica achados, cruza dependências e fontes, planeja e propõe receitas. Scripts e gates permanecem operáveis por um desenvolvedor sem LLM; o humano revisa o patch, aprova e fecha o lote. MTA sugere incompatibilidades, OpenRewrite aplica transformações revisadas, Sonar compara qualidade, testes e EAPs verificam comportamento. A receita não é obrigatória para todo achado: corrigir apenas incompatibilidade demonstrada, incluindo bibliotecas/consumidores. As capacidades em implantação não são resultados comprovados.</a:t>
            </a:r>
          </a:p>
          <a:p>
            <a:r>
              <a:t>Lote de correção é a convenção do projeto, não nomenclatura oficial. Pode conter várias ocorrências correlacionadas ou um único problema complexo. A ferramenta deve ser escolhida pela adequação ao lote; ajuste específico é uma rota prevista, com autorização e verificação.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negócio:</a:t>
            </a:r>
          </a:p>
          <a:p>
            <a:r>
              <a:t>- O objetivo é trocar a plataforma e preservar o comportamento esperado.</a:t>
            </a:r>
          </a:p>
          <a:p>
            <a:r>
              <a:t>- A estratégia registrou como meta de reunião a entrada em produção até 29/12.</a:t>
            </a:r>
          </a:p>
          <a:p>
            <a:r>
              <a:t>- O planejamento macro acrescentado à apresentação usa uma restrição operacional mais forte: implantar em PRD até 18/12, antes do freeze de 19/12.</a:t>
            </a:r>
          </a:p>
          <a:p>
            <a:r>
              <a:t>- Essa antecipação é uma premissa atual de planejamento e deve ser reavaliada conforme o número e a criticidade das correções forem comprovados.</a:t>
            </a:r>
          </a:p>
          <a:p>
            <a:r>
              <a:t>- Não há ganho de produtividade ou economia corporativa medidos nesta preparação.</a:t>
            </a:r>
          </a:p>
          <a:p>
            <a:endParaRPr/>
          </a:p>
          <a:p>
            <a:r>
              <a:t>Para desenvolvimento:</a:t>
            </a:r>
          </a:p>
          <a:p>
            <a:r>
              <a:t>- A aplicação continua sendo validada com Java 8, javax.*, arquitetura Java EE e contratos preservados.</a:t>
            </a:r>
          </a:p>
          <a:p>
            <a:r>
              <a:t>- O esforço não deve ser inferido pela data: depende dos achados MTA, dependências, Sonar, testes e comportamento nos EAPs.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Ponto técnico importante:</a:t>
            </a:r>
          </a:p>
          <a:p>
            <a:r>
              <a:t>- EAP 7.4 é Jakarta EE 8, mas ainda usa o namespace javax.*. A mudança para jakarta.* só acontece no Jakarta EE 9.</a:t>
            </a:r>
          </a:p>
          <a:p>
            <a:r>
              <a:t>- O objetivo é manter Java 8 e o desenho Java EE atual.</a:t>
            </a:r>
          </a:p>
          <a:p>
            <a:r>
              <a:t>- Hibernate muda de geração dentro do EAP e precisa de validação pontual de APIs e comportamento.</a:t>
            </a:r>
          </a:p>
          <a:p>
            <a:r>
              <a:t>- O servidor de identidade não está no escopo; estamos falando do cliente/adaptador usado pela aplicação.</a:t>
            </a:r>
          </a:p>
          <a:p>
            <a:r>
              <a:t>- Qualquer atualização deve ser justificada por incompatibilidade ou suporte, não por desejo de modernizar.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a preparação da máquina faz parte da migração:</a:t>
            </a:r>
          </a:p>
          <a:p>
            <a:r>
              <a:t>- JDK 8 fica explícito para a aplicação; MTA, Sonar e extensões podem exigir outros JDKs.</a:t>
            </a:r>
          </a:p>
          <a:p>
            <a:r>
              <a:t>- O desenho evita depender do Java global do PATH.</a:t>
            </a:r>
          </a:p>
          <a:p>
            <a:r>
              <a:t>- Maven/settings e acessos corporativos precisam estar corretos antes de diagnosticar a aplicação.</a:t>
            </a:r>
          </a:p>
          <a:p>
            <a:r>
              <a:t>- MTA gera uma pasta própria por análise; Sonar usa projeto/branch e baseline próprios.</a:t>
            </a:r>
          </a:p>
          <a:p>
            <a:r>
              <a:t>- EAP 7.1 e 7.4 são controlados individualmente e, por enquanto, um servidor por vez.</a:t>
            </a:r>
          </a:p>
          <a:p>
            <a:r>
              <a:t>- No ambiente de trabalho, Sonar será corporativo; laboratório local não vira baseline corporativo.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DevOps apoia desde a preparação: selecionar tag de imagem candidata via mecanismo existente, identificar versão efetiva do JBoss, alinhar standalone e configuração, conferir build/release e validar startup e cenário funcional no OKD 4. A estratégia registra como comprovada apenas a variável editável tag_imagem na build 401 do SIMTR-api; a imagem EAP 7.4, a configuração e a coexistência segura no OKD 4 ainda exigem teste com infraestrutura. Evitar substituir ou interromper a produção. A aplicação e as bibliotecas precisam ser rastreáveis à revisão, artefato e imagem produzida.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Recomendação arquitetural do projeto: usar lote de correção como unidade de planejamento, revisão e aceite. Não é uma entidade oficial MTA/OpenRewrite. MTA distingue problema e incidentes; receitas podem atuar em vários arquivos e compor operações. Assim, um lote não equivale obrigatoriamente a um apontamento nem a uma receita. Agrupar por causa, versão/contexto, transformação, consumidores e teste comum. Mesmo rule ID ou mensagem não prova equivalência. Uma receita pode ser reutilizada em lotes distintos para controlar risco. Complexidade não implica impossibilidade OpenRewrite: avaliar receita de catálogo, composição, Refaster ou Java, informação de tipos e custo de teste. Se automação não for viável para o lote, propor ajuste específico e explicar por quê. Agente prepara/implementa esse ajuste apenas sob autorização explícita, com revisão e validação iguais. Fontes oficiais consultadas em 25/09/2026: https://docs.redhat.com/en/documentation/migration_toolkit_for_applications/8.1/html/using_the_migration_toolkit_for_applications_command-line_interface/reviewing-analysis-reports_cli-guide ; https://docs.openrewrite.org/concepts-and-explanations/recipes ; https://docs.openrewrite.org/reference/yaml-format-reference ; https://docs.openrewrite.org/authoring-recipes/types-of-recipes ; https://docs.openrewrite.org/authoring-recipes/recipe-testing ; https://docs.openrewrite.org/reference/rewrite-maven-plugin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Fluxo único com duas rotas. Baseline Java 8, MTA/dependências e Sonar ANTES. Agente compara causa, API, assinatura, versão, contexto e consumidores e propõe um lote limitado. Na rota OpenRewrite, testar receita e obter patch via dryRun; após revisão e GO, executar run. Na rota específica, planejar ajuste de código/configuração, preparar teste e diff em escopo autorizado e aplicar a mudança revisada. Agente pode implementar somente o ajuste específico expressamente autorizado, sem autorização genérica pelo relatório. Ambas as rotas passam por build/testes Java 8, MTA/Sonar DEPOIS e mesmo artefato nos EAPs. Todos os scripts por Run Task no VS Code. Edição/revisão humana ocorre na IDE. Falta de receita pronta não prova impossibilidade técnica. Fontes: https://docs.redhat.com/en/documentation/migration_toolkit_for_applications/8.1/html/using_the_migration_toolkit_for_applications_command-line_interface/reviewing-analysis-reports_cli-guide ; https://docs.openrewrite.org/concepts-and-explanations/recipes ; https://docs.openrewrite.org/reference/rewrite-maven-plugin ; https://docs.openrewrite.org/authoring-recipes/types-of-recipes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Enfatize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ferramenta </a:t>
            </a:r>
            <a:r>
              <a:rPr dirty="0" err="1"/>
              <a:t>mede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dimensão</a:t>
            </a:r>
            <a:r>
              <a:rPr dirty="0"/>
              <a:t>:</a:t>
            </a:r>
          </a:p>
          <a:p>
            <a:r>
              <a:rPr dirty="0"/>
              <a:t>- MTA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prova</a:t>
            </a:r>
            <a:r>
              <a:rPr dirty="0"/>
              <a:t> de runtime; serve para </a:t>
            </a:r>
            <a:r>
              <a:rPr dirty="0" err="1"/>
              <a:t>localizar</a:t>
            </a:r>
            <a:r>
              <a:rPr dirty="0"/>
              <a:t> e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possíveis</a:t>
            </a:r>
            <a:r>
              <a:rPr dirty="0"/>
              <a:t> </a:t>
            </a:r>
            <a:r>
              <a:rPr dirty="0" err="1"/>
              <a:t>incompatibilidades</a:t>
            </a:r>
            <a:r>
              <a:rPr dirty="0"/>
              <a:t>.</a:t>
            </a:r>
          </a:p>
          <a:p>
            <a:r>
              <a:rPr dirty="0"/>
              <a:t>- Testes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provam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efetivamente</a:t>
            </a:r>
            <a:r>
              <a:rPr dirty="0"/>
              <a:t> </a:t>
            </a:r>
            <a:r>
              <a:rPr dirty="0" err="1"/>
              <a:t>coberto</a:t>
            </a:r>
            <a:r>
              <a:rPr dirty="0"/>
              <a:t>.</a:t>
            </a:r>
          </a:p>
          <a:p>
            <a:r>
              <a:rPr dirty="0"/>
              <a:t>- Sonar </a:t>
            </a:r>
            <a:r>
              <a:rPr dirty="0" err="1"/>
              <a:t>compara</a:t>
            </a:r>
            <a:r>
              <a:rPr dirty="0"/>
              <a:t> </a:t>
            </a:r>
            <a:r>
              <a:rPr dirty="0" err="1"/>
              <a:t>qualidade</a:t>
            </a:r>
            <a:r>
              <a:rPr dirty="0"/>
              <a:t> antes/</a:t>
            </a:r>
            <a:r>
              <a:rPr dirty="0" err="1"/>
              <a:t>depois</a:t>
            </a:r>
            <a:r>
              <a:rPr dirty="0"/>
              <a:t> e </a:t>
            </a:r>
            <a:r>
              <a:rPr dirty="0" err="1"/>
              <a:t>mantém</a:t>
            </a:r>
            <a:r>
              <a:rPr dirty="0"/>
              <a:t> </a:t>
            </a:r>
            <a:r>
              <a:rPr dirty="0" err="1"/>
              <a:t>dívida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 </a:t>
            </a:r>
            <a:r>
              <a:rPr dirty="0" err="1"/>
              <a:t>visível</a:t>
            </a:r>
            <a:r>
              <a:rPr dirty="0"/>
              <a:t>.</a:t>
            </a:r>
          </a:p>
          <a:p>
            <a:r>
              <a:rPr dirty="0"/>
              <a:t>- Deploy OK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substitui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de </a:t>
            </a:r>
            <a:r>
              <a:rPr dirty="0" err="1"/>
              <a:t>contratos</a:t>
            </a:r>
            <a:r>
              <a:rPr dirty="0"/>
              <a:t> e </a:t>
            </a:r>
            <a:r>
              <a:rPr dirty="0" err="1"/>
              <a:t>fluxos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limites</a:t>
            </a:r>
            <a:r>
              <a:rPr dirty="0"/>
              <a:t> </a:t>
            </a:r>
            <a:r>
              <a:rPr dirty="0" err="1"/>
              <a:t>mostrados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do harness,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certificação</a:t>
            </a:r>
            <a:r>
              <a:rPr dirty="0"/>
              <a:t> Red Hat.</a:t>
            </a:r>
          </a:p>
          <a:p>
            <a:r>
              <a:rPr dirty="0"/>
              <a:t>- O Quality Gate </a:t>
            </a:r>
            <a:r>
              <a:rPr dirty="0" err="1"/>
              <a:t>corporativo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ser </a:t>
            </a:r>
            <a:r>
              <a:rPr dirty="0" err="1"/>
              <a:t>mostrado</a:t>
            </a:r>
            <a:r>
              <a:rPr dirty="0"/>
              <a:t> </a:t>
            </a:r>
            <a:r>
              <a:rPr dirty="0" err="1"/>
              <a:t>separadamente</a:t>
            </a:r>
            <a:r>
              <a:rPr dirty="0"/>
              <a:t> da </a:t>
            </a:r>
            <a:r>
              <a:rPr dirty="0" err="1"/>
              <a:t>política</a:t>
            </a:r>
            <a:r>
              <a:rPr dirty="0"/>
              <a:t> do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Separar ensaio sintético, preparação e aplicação corporativa. OpenRewrite é uma adição proposta ao harness: receita, teste, dryRun, revisão, run e revalidação ainda precisam de ensaio e evidência. Não afirmar transformação ou integração concluída. Start/Stop/Deploy pelo VS Code segue em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VS Code é a central de operações, não um novo motor de migração. O desenvolvedor deve poder acionar scripts por Run Task, inspecionar output e relatórios do MTA, Sonar, build, testes e OpenRewrite, e interagir com o agente de migração no mesmo workspace. As tarefas de build/testes Java 8, MTA manual, scripts Sonar e checkpoints têm capacidades observadas no laboratório conforme estratégia. A integração de receitas OpenRewrite ao harness é proposta. Start/Stop persistentes dos EAPs e Deploy/Undeploy de EAR/WAR arbitrário via VS Code ainda estão em implementação. Não apresentar a opção desejada como funcionalidade já pronta nem o ciclo completo como comprovado.</a:t>
            </a:r>
          </a:p>
          <a:p>
            <a:r>
              <a:t>Ajuste específico não exige tarefa OpenRewrite. O agente explica a escolha, prepara proposta de teste e diff e aguarda autorização do escopo. Scripts auxiliares usam Run Task. O desenvolvedor pode conduzir ambas as rotas sem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Ensaiar um lote real com revisão e comparação antes/depois. Para comprovar OpenRewrite é necessário um caso com receita aplicável, teste e dryRun/run. Se o lote seguir ajuste específico, comprova somente essa rota e seus controles. Preparação corporativa e data-alvo permanecem condicionadas a evidências.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duas primeiras semanas são uma etapa de preparação e validação do processo, incluindo configuração local e um ensaio completo em um módulo real. Semana 1: ambiente, Run Tasks, primeiro build/testes Java 8, MTA/dependências e Sonar ANTES. Semana 2: triagem e plano de um único lote aplicável, receita testada, dryRun, revisão, aplicação autorizada, build/testes, MTA e Sonar DEPOIS e mesmo artefato nos EAPs 7.1 e 7.4. Corrigir o harness e o roteiro conforme os problemas encontrados. Só depois ampliar a execução para as duas APIs em paralelo. O ensaio mede a viabilidade do fluxo; não representa taxa de produtividade geral nem migração corporativa concluída. DevOps atua desde a primeira semana na esteira, configuração EAP 7.4, imagem e isolamento no OKD 4, acompanhando as frentes existentes. Mantêm-se como metas revisáveis a primeira versão para teste em DES/esteira até a segunda semana de novembro, correções até a terceira semana de novembro, testes nas duas primeiras semanas de dezembro e PRD até 18/12, SIMTR-api antes de SIMTR-Outsourcing-api, antes do freeze considerado para 19/12. O marco DES depende da imagem/configuração e destino de release verificados. Revisar quantidade e criticidade dos achados, dependências, duração real dos lotes e disponibilidade dos ambientes ao longo de todo o período. Falta de evidência não autoriza fechar etapa para cumprir calendário.</a:t>
            </a:r>
          </a:p>
          <a:p>
            <a:r>
              <a:t>Um lote pode reunir ocorrências equivalentes ou um único problema complexo. O planejamento deve considerar risco e complexidade, não apenas quantidade de apontamentos. Um ensaio de ajuste específico não comprova a rota OpenRewrite.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Duas semanas para preparar máquina, Run Tasks e baselines de um módulo real e executar um lote completo. O lote pode reunir várias ocorrências realmente equivalentes. Para validar a integração OpenRewrite, escolher caso aplicável a receita, testar, dryRun, revisar e run. Se o caso requer ajuste específico, testar e revisar esse ajuste e marcar OpenRewrite como não verificado até ensaio próprio. A rota específica também exige MTA/Sonar antes/depois e validação no EAP 7.1/7.4. Ajustar o harness e o roteiro. DevOps prepara esteira, configuração e imagem OKD 4 em paralelo. Reavaliar estimativa e marcos após o ensaio e a cada lote. Não criar um achado artificial para completar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Encerrar com evidência real de um lote: ocorrências MTA, justificativa de agrupamento, baseline Sonar, rota escolhida, teste e diff, aplicação autorizada, build/testes, MTA/Sonar DEPOIS e mesmo artefato nos EAPs. Na rota OpenRewrite mostrar recipe test/dryRun/run; na específica mostrar plano, teste e ajuste. Não apresentar uma rota como validada por ter ensaiado outra.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88E641-2FD6-4155-8329-E11BE4C599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18E3674-4AA8-4DFC-80AC-271EC54BDBF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EC78C1C-FAFB-413E-A52C-3FF0F2AAC67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D2A4DB-A0A0-4934-877A-04D19D5642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63D"/>
          </a:solidFill>
          <a:ln w="12700">
            <a:solidFill>
              <a:srgbClr val="11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E7758C-4FDE-426C-99F3-7FE7169721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D06C38-7022-4147-A7FD-0A956004A4D7}"/>
              </a:ext>
            </a:extLst>
          </p:cNvPr>
          <p:cNvSpPr>
            <a:spLocks noGrp="1"/>
          </p:cNvSpPr>
          <p:nvPr/>
        </p:nvSpPr>
        <p:spPr>
          <a:xfrm>
            <a:off x="804672" y="11704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Migração JBoss EAP 7.1 → 7.4</a:t>
            </a:r>
            <a:endParaRPr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BF6A79-6F78-4BBF-956B-9F04ADDF2DF7}"/>
              </a:ext>
            </a:extLst>
          </p:cNvPr>
          <p:cNvSpPr>
            <a:spLocks noGrp="1"/>
          </p:cNvSpPr>
          <p:nvPr/>
        </p:nvSpPr>
        <p:spPr>
          <a:xfrm>
            <a:off x="822960" y="1993392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100">
                <a:solidFill>
                  <a:srgbClr val="D8E6F5"/>
                </a:solidFill>
              </a:rPr>
              <a:t>Preservar comportamento. Reduzir incerteza. Avançar por evidências.</a:t>
            </a:r>
            <a:endParaRPr sz="2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88AB44-1BA1-48A2-B88C-63B9A966B51F}"/>
              </a:ext>
            </a:extLst>
          </p:cNvPr>
          <p:cNvSpPr>
            <a:spLocks noGrp="1"/>
          </p:cNvSpPr>
          <p:nvPr/>
        </p:nvSpPr>
        <p:spPr>
          <a:xfrm>
            <a:off x="822960" y="276148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FB3C8"/>
                </a:solidFill>
              </a:rPr>
              <a:t>Estratégia para negócio e desenvolvimento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7712236-2925-4727-94E7-3F1C85C0C943}"/>
              </a:ext>
            </a:extLst>
          </p:cNvPr>
          <p:cNvSpPr>
            <a:spLocks noGrp="1"/>
          </p:cNvSpPr>
          <p:nvPr/>
        </p:nvSpPr>
        <p:spPr>
          <a:xfrm>
            <a:off x="822960" y="367588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274A6D"/>
          </a:solidFill>
          <a:ln w="12700">
            <a:solidFill>
              <a:srgbClr val="274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848F604-E2FC-4CF0-9A39-37E9AE2BCAAE}"/>
              </a:ext>
            </a:extLst>
          </p:cNvPr>
          <p:cNvSpPr>
            <a:spLocks noGrp="1"/>
          </p:cNvSpPr>
          <p:nvPr/>
        </p:nvSpPr>
        <p:spPr>
          <a:xfrm>
            <a:off x="896112" y="3735324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E8F1FB"/>
                </a:solidFill>
              </a:rPr>
              <a:t>Java 8</a:t>
            </a:r>
            <a:endParaRPr sz="10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ADDA036-301E-42D6-BCD6-95BB89F465EB}"/>
              </a:ext>
            </a:extLst>
          </p:cNvPr>
          <p:cNvSpPr>
            <a:spLocks noGrp="1"/>
          </p:cNvSpPr>
          <p:nvPr/>
        </p:nvSpPr>
        <p:spPr>
          <a:xfrm>
            <a:off x="2240280" y="3675888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274A6D"/>
          </a:solidFill>
          <a:ln w="12700">
            <a:solidFill>
              <a:srgbClr val="274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CC5ABCB-F7C2-4B16-8AD6-EA3FD323C255}"/>
              </a:ext>
            </a:extLst>
          </p:cNvPr>
          <p:cNvSpPr>
            <a:spLocks noGrp="1"/>
          </p:cNvSpPr>
          <p:nvPr/>
        </p:nvSpPr>
        <p:spPr>
          <a:xfrm>
            <a:off x="2313432" y="3735324"/>
            <a:ext cx="11795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E8F1FB"/>
                </a:solidFill>
              </a:rPr>
              <a:t>javax.*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B7CD15-BF9B-4C87-A904-31003553F22A}"/>
              </a:ext>
            </a:extLst>
          </p:cNvPr>
          <p:cNvSpPr>
            <a:spLocks noGrp="1"/>
          </p:cNvSpPr>
          <p:nvPr/>
        </p:nvSpPr>
        <p:spPr>
          <a:xfrm>
            <a:off x="3767328" y="3675888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274A6D"/>
          </a:solidFill>
          <a:ln w="12700">
            <a:solidFill>
              <a:srgbClr val="274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587374-BB56-48F1-8ED7-AAB3B5F79C01}"/>
              </a:ext>
            </a:extLst>
          </p:cNvPr>
          <p:cNvSpPr>
            <a:spLocks noGrp="1"/>
          </p:cNvSpPr>
          <p:nvPr/>
        </p:nvSpPr>
        <p:spPr>
          <a:xfrm>
            <a:off x="3840480" y="3735324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E8F1FB"/>
                </a:solidFill>
              </a:rPr>
              <a:t>mudança mínima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7FA6616-C22A-49B4-A17D-9F6BE6886638}"/>
              </a:ext>
            </a:extLst>
          </p:cNvPr>
          <p:cNvSpPr>
            <a:spLocks noGrp="1"/>
          </p:cNvSpPr>
          <p:nvPr/>
        </p:nvSpPr>
        <p:spPr>
          <a:xfrm>
            <a:off x="5943600" y="3675888"/>
            <a:ext cx="1783080" cy="320040"/>
          </a:xfrm>
          <a:prstGeom prst="roundRect">
            <a:avLst>
              <a:gd name="adj" fmla="val 22857"/>
            </a:avLst>
          </a:prstGeom>
          <a:solidFill>
            <a:srgbClr val="274A6D"/>
          </a:solidFill>
          <a:ln w="12700">
            <a:solidFill>
              <a:srgbClr val="274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330BE1-6FF3-4A3F-A185-648C57C9DD10}"/>
              </a:ext>
            </a:extLst>
          </p:cNvPr>
          <p:cNvSpPr>
            <a:spLocks noGrp="1"/>
          </p:cNvSpPr>
          <p:nvPr/>
        </p:nvSpPr>
        <p:spPr>
          <a:xfrm>
            <a:off x="6016752" y="3735324"/>
            <a:ext cx="16367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E8F1FB"/>
                </a:solidFill>
              </a:rPr>
              <a:t>ciclos curtos</a:t>
            </a:r>
            <a:endParaRPr sz="10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7E9A358-E4BE-448C-8F44-0895353D6891}"/>
              </a:ext>
            </a:extLst>
          </p:cNvPr>
          <p:cNvSpPr>
            <a:spLocks noGrp="1"/>
          </p:cNvSpPr>
          <p:nvPr/>
        </p:nvSpPr>
        <p:spPr>
          <a:xfrm>
            <a:off x="7955280" y="3675888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274A6D"/>
          </a:solidFill>
          <a:ln w="12700">
            <a:solidFill>
              <a:srgbClr val="274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8AB03D-90BE-4F86-AB80-01096AC4FA4D}"/>
              </a:ext>
            </a:extLst>
          </p:cNvPr>
          <p:cNvSpPr>
            <a:spLocks noGrp="1"/>
          </p:cNvSpPr>
          <p:nvPr/>
        </p:nvSpPr>
        <p:spPr>
          <a:xfrm>
            <a:off x="8028432" y="3735324"/>
            <a:ext cx="21854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E8F1FB"/>
                </a:solidFill>
              </a:rPr>
              <a:t>produção preservada</a:t>
            </a:r>
            <a:endParaRPr sz="10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474394-E75A-49D6-BBC0-A446374E077C}"/>
              </a:ext>
            </a:extLst>
          </p:cNvPr>
          <p:cNvSpPr>
            <a:spLocks noGrp="1"/>
          </p:cNvSpPr>
          <p:nvPr/>
        </p:nvSpPr>
        <p:spPr>
          <a:xfrm>
            <a:off x="822960" y="5989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91A6BB"/>
                </a:solidFill>
              </a:rPr>
              <a:t>25/09/2026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1100467-BE1E-4359-AA2B-58E88A114721}"/>
              </a:ext>
            </a:extLst>
          </p:cNvPr>
          <p:cNvSpPr>
            <a:spLocks noGrp="1"/>
          </p:cNvSpPr>
          <p:nvPr/>
        </p:nvSpPr>
        <p:spPr>
          <a:xfrm>
            <a:off x="6400800" y="598932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i="1">
                <a:solidFill>
                  <a:srgbClr val="91A6BB"/>
                </a:solidFill>
              </a:rPr>
              <a:t>Fonte: Briefing — mensagem central; Estratégia §§1–2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3061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10AC95-652A-41A5-9C9B-98CA2046B292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71"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Direcionadores da estratégia de migração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F3F6EA-21EB-4E0C-8E49-A79A56017141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Uma operação guiada, com mudanças pequenas e evidências em cada etapa.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6B6F77-15C8-4F27-BDD1-3A1E98EEF193}"/>
              </a:ext>
            </a:extLst>
          </p:cNvPr>
          <p:cNvSpPr>
            <a:spLocks noGrp="1"/>
          </p:cNvSpPr>
          <p:nvPr/>
        </p:nvSpPr>
        <p:spPr>
          <a:xfrm>
            <a:off x="65836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B62517-3DC5-4B33-9E78-F370D15F2547}"/>
              </a:ext>
            </a:extLst>
          </p:cNvPr>
          <p:cNvSpPr>
            <a:spLocks noGrp="1"/>
          </p:cNvSpPr>
          <p:nvPr/>
        </p:nvSpPr>
        <p:spPr>
          <a:xfrm>
            <a:off x="82296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0F766E"/>
                </a:solidFill>
              </a:rPr>
              <a:t>VS Code: central</a:t>
            </a:r>
            <a:endParaRPr sz="1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C05D43-177B-413E-B2CA-010370221DE3}"/>
              </a:ext>
            </a:extLst>
          </p:cNvPr>
          <p:cNvSpPr>
            <a:spLocks noGrp="1"/>
          </p:cNvSpPr>
          <p:nvPr/>
        </p:nvSpPr>
        <p:spPr>
          <a:xfrm>
            <a:off x="84124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Run Task, resultados e agente no mesmo workspace.</a:t>
            </a:r>
            <a:endParaRPr sz="154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47F933-5230-4965-9B0F-4F7B6EE7E418}"/>
              </a:ext>
            </a:extLst>
          </p:cNvPr>
          <p:cNvSpPr>
            <a:spLocks noGrp="1"/>
          </p:cNvSpPr>
          <p:nvPr/>
        </p:nvSpPr>
        <p:spPr>
          <a:xfrm>
            <a:off x="85953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Desenvolvedor controla cada etapa.</a:t>
            </a:r>
            <a:endParaRPr sz="118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D5A0FD8-6C87-4A55-80C8-F058CEE5B73D}"/>
              </a:ext>
            </a:extLst>
          </p:cNvPr>
          <p:cNvSpPr>
            <a:spLocks noGrp="1"/>
          </p:cNvSpPr>
          <p:nvPr/>
        </p:nvSpPr>
        <p:spPr>
          <a:xfrm>
            <a:off x="349300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934A33-D89A-4160-B2B1-4EB826C72FA8}"/>
              </a:ext>
            </a:extLst>
          </p:cNvPr>
          <p:cNvSpPr>
            <a:spLocks noGrp="1"/>
          </p:cNvSpPr>
          <p:nvPr/>
        </p:nvSpPr>
        <p:spPr>
          <a:xfrm>
            <a:off x="365760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17324D"/>
                </a:solidFill>
              </a:rPr>
              <a:t>Roteiro claro</a:t>
            </a:r>
            <a:endParaRPr sz="1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45BCAA-BFC4-47BB-8EF2-55CAFCD546FC}"/>
              </a:ext>
            </a:extLst>
          </p:cNvPr>
          <p:cNvSpPr>
            <a:spLocks noGrp="1"/>
          </p:cNvSpPr>
          <p:nvPr/>
        </p:nvSpPr>
        <p:spPr>
          <a:xfrm>
            <a:off x="367588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Um lote por vez, com escopo e aceite definidos.</a:t>
            </a:r>
            <a:endParaRPr sz="154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096B0A-255D-4044-B85C-F58C2F1DEF20}"/>
              </a:ext>
            </a:extLst>
          </p:cNvPr>
          <p:cNvSpPr>
            <a:spLocks noGrp="1"/>
          </p:cNvSpPr>
          <p:nvPr/>
        </p:nvSpPr>
        <p:spPr>
          <a:xfrm>
            <a:off x="369417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Menos esforço para executar e validar.</a:t>
            </a:r>
            <a:endParaRPr sz="11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91A8EB-CB2A-44DB-8EF4-DD54FCEE8258}"/>
              </a:ext>
            </a:extLst>
          </p:cNvPr>
          <p:cNvSpPr>
            <a:spLocks noGrp="1"/>
          </p:cNvSpPr>
          <p:nvPr/>
        </p:nvSpPr>
        <p:spPr>
          <a:xfrm>
            <a:off x="632764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134D23-C102-404A-B084-A2EB54F70001}"/>
              </a:ext>
            </a:extLst>
          </p:cNvPr>
          <p:cNvSpPr>
            <a:spLocks noGrp="1"/>
          </p:cNvSpPr>
          <p:nvPr/>
        </p:nvSpPr>
        <p:spPr>
          <a:xfrm>
            <a:off x="649224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F6FEB"/>
                </a:solidFill>
              </a:rPr>
              <a:t>Papéis definidos</a:t>
            </a:r>
            <a:endParaRPr sz="1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3FA80D-E014-4C03-8DB5-3E1E48FF533E}"/>
              </a:ext>
            </a:extLst>
          </p:cNvPr>
          <p:cNvSpPr>
            <a:spLocks noGrp="1"/>
          </p:cNvSpPr>
          <p:nvPr/>
        </p:nvSpPr>
        <p:spPr>
          <a:xfrm>
            <a:off x="651052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Agente agrupa e planeja; humano revisa e decide.</a:t>
            </a:r>
            <a:endParaRPr sz="154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19D54C-B52B-4C1A-B806-6CC717C47B47}"/>
              </a:ext>
            </a:extLst>
          </p:cNvPr>
          <p:cNvSpPr>
            <a:spLocks noGrp="1"/>
          </p:cNvSpPr>
          <p:nvPr/>
        </p:nvSpPr>
        <p:spPr>
          <a:xfrm>
            <a:off x="652881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Scripts também funcionam sem LLM.</a:t>
            </a:r>
            <a:endParaRPr sz="118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8946801-B605-4A9F-8A3B-7A2CDBAE7699}"/>
              </a:ext>
            </a:extLst>
          </p:cNvPr>
          <p:cNvSpPr>
            <a:spLocks noGrp="1"/>
          </p:cNvSpPr>
          <p:nvPr/>
        </p:nvSpPr>
        <p:spPr>
          <a:xfrm>
            <a:off x="916228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AA3880-E8CB-4E2F-94E5-E4118C7D32E2}"/>
              </a:ext>
            </a:extLst>
          </p:cNvPr>
          <p:cNvSpPr>
            <a:spLocks noGrp="1"/>
          </p:cNvSpPr>
          <p:nvPr/>
        </p:nvSpPr>
        <p:spPr>
          <a:xfrm>
            <a:off x="932688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7864A"/>
                </a:solidFill>
              </a:rPr>
              <a:t>Migração mínima</a:t>
            </a:r>
            <a:endParaRPr sz="17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014FBF-5128-4B07-9B05-1AF247323827}"/>
              </a:ext>
            </a:extLst>
          </p:cNvPr>
          <p:cNvSpPr>
            <a:spLocks noGrp="1"/>
          </p:cNvSpPr>
          <p:nvPr/>
        </p:nvSpPr>
        <p:spPr>
          <a:xfrm>
            <a:off x="934516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Java 8 e contratos preservados no EAP 7.4.</a:t>
            </a:r>
            <a:endParaRPr sz="154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D3B3F81-5281-43DF-A12E-8BF674851299}"/>
              </a:ext>
            </a:extLst>
          </p:cNvPr>
          <p:cNvSpPr>
            <a:spLocks noGrp="1"/>
          </p:cNvSpPr>
          <p:nvPr/>
        </p:nvSpPr>
        <p:spPr>
          <a:xfrm>
            <a:off x="936345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Jakarta EE 8 mantém javax.*.</a:t>
            </a:r>
            <a:endParaRPr sz="118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AF6BD4-8F6F-401C-AEB6-CD76E5053D8A}"/>
              </a:ext>
            </a:extLst>
          </p:cNvPr>
          <p:cNvSpPr>
            <a:spLocks noGrp="1"/>
          </p:cNvSpPr>
          <p:nvPr/>
        </p:nvSpPr>
        <p:spPr>
          <a:xfrm>
            <a:off x="658368" y="4599432"/>
            <a:ext cx="10899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FED342-E770-4E27-93A2-2EEE777716F5}"/>
              </a:ext>
            </a:extLst>
          </p:cNvPr>
          <p:cNvSpPr>
            <a:spLocks noGrp="1"/>
          </p:cNvSpPr>
          <p:nvPr/>
        </p:nvSpPr>
        <p:spPr>
          <a:xfrm>
            <a:off x="896112" y="48646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7324D"/>
                </a:solidFill>
              </a:rPr>
              <a:t>Ferramenta certa para cada etapa</a:t>
            </a:r>
            <a:endParaRPr sz="13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6BDB677-DF3A-4C24-AD73-4CB1BE11E56B}"/>
              </a:ext>
            </a:extLst>
          </p:cNvPr>
          <p:cNvSpPr>
            <a:spLocks noGrp="1"/>
          </p:cNvSpPr>
          <p:nvPr/>
        </p:nvSpPr>
        <p:spPr>
          <a:xfrm>
            <a:off x="2651760" y="4828032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9D7AAF-CAE4-457D-AC08-647A34BB3D92}"/>
              </a:ext>
            </a:extLst>
          </p:cNvPr>
          <p:cNvSpPr>
            <a:spLocks noGrp="1"/>
          </p:cNvSpPr>
          <p:nvPr/>
        </p:nvSpPr>
        <p:spPr>
          <a:xfrm>
            <a:off x="2724912" y="4887468"/>
            <a:ext cx="14996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B42318"/>
                </a:solidFill>
              </a:rPr>
              <a:t>MTA: diagnóstico</a:t>
            </a:r>
            <a:endParaRPr sz="10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B7D5BBD-48AE-4F75-B7F0-18BD8AC818C3}"/>
              </a:ext>
            </a:extLst>
          </p:cNvPr>
          <p:cNvSpPr>
            <a:spLocks noGrp="1"/>
          </p:cNvSpPr>
          <p:nvPr/>
        </p:nvSpPr>
        <p:spPr>
          <a:xfrm>
            <a:off x="4709160" y="4828032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615B981-1DF8-419C-A3FE-81DAE24F2117}"/>
              </a:ext>
            </a:extLst>
          </p:cNvPr>
          <p:cNvSpPr>
            <a:spLocks noGrp="1"/>
          </p:cNvSpPr>
          <p:nvPr/>
        </p:nvSpPr>
        <p:spPr>
          <a:xfrm>
            <a:off x="4782312" y="4887468"/>
            <a:ext cx="23225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B42318"/>
                </a:solidFill>
              </a:rPr>
              <a:t>OpenRewrite: quando aplicável</a:t>
            </a:r>
            <a:endParaRPr sz="10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3D473B5-A227-4A91-B7AA-A3DDE2274855}"/>
              </a:ext>
            </a:extLst>
          </p:cNvPr>
          <p:cNvSpPr>
            <a:spLocks noGrp="1"/>
          </p:cNvSpPr>
          <p:nvPr/>
        </p:nvSpPr>
        <p:spPr>
          <a:xfrm>
            <a:off x="7543800" y="4828032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44E1DB0-0FBE-4AE5-9E3C-D69CF6FB95BD}"/>
              </a:ext>
            </a:extLst>
          </p:cNvPr>
          <p:cNvSpPr>
            <a:spLocks noGrp="1"/>
          </p:cNvSpPr>
          <p:nvPr/>
        </p:nvSpPr>
        <p:spPr>
          <a:xfrm>
            <a:off x="7616952" y="4887468"/>
            <a:ext cx="14996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6FEB"/>
                </a:solidFill>
              </a:rPr>
              <a:t>Sonar: qualidade</a:t>
            </a:r>
            <a:endParaRPr sz="10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0ECA6A8-7F1C-461A-8BB1-7EE467E82257}"/>
              </a:ext>
            </a:extLst>
          </p:cNvPr>
          <p:cNvSpPr>
            <a:spLocks noGrp="1"/>
          </p:cNvSpPr>
          <p:nvPr/>
        </p:nvSpPr>
        <p:spPr>
          <a:xfrm>
            <a:off x="9555480" y="48280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0E7924F-F37A-435D-A633-500CF1BF980F}"/>
              </a:ext>
            </a:extLst>
          </p:cNvPr>
          <p:cNvSpPr>
            <a:spLocks noGrp="1"/>
          </p:cNvSpPr>
          <p:nvPr/>
        </p:nvSpPr>
        <p:spPr>
          <a:xfrm>
            <a:off x="9628632" y="4887468"/>
            <a:ext cx="145389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625"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6FEB"/>
                </a:solidFill>
              </a:rPr>
              <a:t>Testes + EAPs: execução</a:t>
            </a:r>
            <a:endParaRPr sz="10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2B4D25E-E549-40CF-87D8-DD2C41CFEC33}"/>
              </a:ext>
            </a:extLst>
          </p:cNvPr>
          <p:cNvSpPr>
            <a:spLocks noGrp="1"/>
          </p:cNvSpPr>
          <p:nvPr/>
        </p:nvSpPr>
        <p:spPr>
          <a:xfrm>
            <a:off x="3794760" y="5833872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607086"/>
                </a:solidFill>
              </a:rPr>
              <a:t>Receita ou ajuste específico, sempre com teste, revisão e evidência.</a:t>
            </a:r>
            <a:endParaRPr sz="11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9F7770F-B61F-4C37-82A7-220556D9FF12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1EDD0F7-0B58-4C2E-9187-22378AC137A0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Estratégia §§2, 4 e 7; proposta de operação no VS Code com OpenRewrite.</a:t>
            </a:r>
            <a:endParaRPr sz="880"/>
          </a:p>
        </p:txBody>
      </p:sp>
      <p:sp>
        <p:nvSpPr>
          <p:cNvPr id="33" name="Slide Number Placeholder 0">
            <a:extLst>
              <a:ext uri="{FF2B5EF4-FFF2-40B4-BE49-F238E27FC236}">
                <a16:creationId xmlns:a16="http://schemas.microsoft.com/office/drawing/2014/main" id="{4CBEC579-723D-4D24-8BB0-194C08F1C5F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00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F6366D-01EC-4D56-8943-AF215F1B44DF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Objetivo: trocar a plataforma sem redesenhar a aplicação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5FF72F-A9E8-49F1-85C7-34E7F82682A5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O negócio continua funcionando enquanto o runtime evolui de EAP 7.1 para 7.4.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1FB5AE-06E8-4E67-83A3-5479161BB796}"/>
              </a:ext>
            </a:extLst>
          </p:cNvPr>
          <p:cNvSpPr>
            <a:spLocks noGrp="1"/>
          </p:cNvSpPr>
          <p:nvPr/>
        </p:nvSpPr>
        <p:spPr>
          <a:xfrm>
            <a:off x="713232" y="1417320"/>
            <a:ext cx="2788920" cy="1847088"/>
          </a:xfrm>
          <a:prstGeom prst="roundRect">
            <a:avLst>
              <a:gd name="adj" fmla="val 3960"/>
            </a:avLst>
          </a:prstGeom>
          <a:solidFill>
            <a:srgbClr val="EEF3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B31B51-DD31-4059-B8DD-C05FB30EA04C}"/>
              </a:ext>
            </a:extLst>
          </p:cNvPr>
          <p:cNvSpPr>
            <a:spLocks noGrp="1"/>
          </p:cNvSpPr>
          <p:nvPr/>
        </p:nvSpPr>
        <p:spPr>
          <a:xfrm>
            <a:off x="932688" y="166420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607086"/>
                </a:solidFill>
              </a:rPr>
              <a:t>ORIGEM</a:t>
            </a:r>
            <a:endParaRPr sz="10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FAAABB-707C-4A81-A1F2-A0572D4F4D06}"/>
              </a:ext>
            </a:extLst>
          </p:cNvPr>
          <p:cNvSpPr>
            <a:spLocks noGrp="1"/>
          </p:cNvSpPr>
          <p:nvPr/>
        </p:nvSpPr>
        <p:spPr>
          <a:xfrm>
            <a:off x="932688" y="20299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17324D"/>
                </a:solidFill>
              </a:rPr>
              <a:t>JBoss EAP 7.1</a:t>
            </a:r>
            <a:endParaRPr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5F6E5B-C7E5-4B35-95D9-7692E5C05EEC}"/>
              </a:ext>
            </a:extLst>
          </p:cNvPr>
          <p:cNvSpPr>
            <a:spLocks noGrp="1"/>
          </p:cNvSpPr>
          <p:nvPr/>
        </p:nvSpPr>
        <p:spPr>
          <a:xfrm>
            <a:off x="932688" y="25420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produção atual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F3505D5-3BD6-42BA-A1D7-ED079D52361E}"/>
              </a:ext>
            </a:extLst>
          </p:cNvPr>
          <p:cNvSpPr>
            <a:spLocks noGrp="1"/>
          </p:cNvSpPr>
          <p:nvPr/>
        </p:nvSpPr>
        <p:spPr>
          <a:xfrm>
            <a:off x="3794760" y="1874520"/>
            <a:ext cx="1051560" cy="777240"/>
          </a:xfrm>
          <a:prstGeom prst="chevron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8867AC-EE4C-4637-A922-E09836B43C58}"/>
              </a:ext>
            </a:extLst>
          </p:cNvPr>
          <p:cNvSpPr>
            <a:spLocks noGrp="1"/>
          </p:cNvSpPr>
          <p:nvPr/>
        </p:nvSpPr>
        <p:spPr>
          <a:xfrm>
            <a:off x="5166360" y="1417320"/>
            <a:ext cx="2788920" cy="1847088"/>
          </a:xfrm>
          <a:prstGeom prst="roundRect">
            <a:avLst>
              <a:gd name="adj" fmla="val 3960"/>
            </a:avLst>
          </a:prstGeom>
          <a:solidFill>
            <a:srgbClr val="EAF2FF"/>
          </a:solidFill>
          <a:ln w="12700">
            <a:solidFill>
              <a:srgbClr val="C8DA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FD629E-13A1-4DE8-BC4A-95AA6AB40C41}"/>
              </a:ext>
            </a:extLst>
          </p:cNvPr>
          <p:cNvSpPr>
            <a:spLocks noGrp="1"/>
          </p:cNvSpPr>
          <p:nvPr/>
        </p:nvSpPr>
        <p:spPr>
          <a:xfrm>
            <a:off x="5394960" y="1664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2F6FEB"/>
                </a:solidFill>
              </a:rPr>
              <a:t>DESTINO</a:t>
            </a:r>
            <a:endParaRPr sz="10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CC7BE2-E1BC-460B-A837-4CC668D585C0}"/>
              </a:ext>
            </a:extLst>
          </p:cNvPr>
          <p:cNvSpPr>
            <a:spLocks noGrp="1"/>
          </p:cNvSpPr>
          <p:nvPr/>
        </p:nvSpPr>
        <p:spPr>
          <a:xfrm>
            <a:off x="5394960" y="20299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17324D"/>
                </a:solidFill>
              </a:rPr>
              <a:t>JBoss EAP 7.4</a:t>
            </a:r>
            <a:endParaRPr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B7FDFD-612A-4634-9786-6499430199B3}"/>
              </a:ext>
            </a:extLst>
          </p:cNvPr>
          <p:cNvSpPr>
            <a:spLocks noGrp="1"/>
          </p:cNvSpPr>
          <p:nvPr/>
        </p:nvSpPr>
        <p:spPr>
          <a:xfrm>
            <a:off x="5394960" y="25420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runtime validado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C4EB422-B630-4A2F-8C5E-F0A62EFFBD48}"/>
              </a:ext>
            </a:extLst>
          </p:cNvPr>
          <p:cNvSpPr>
            <a:spLocks noGrp="1"/>
          </p:cNvSpPr>
          <p:nvPr/>
        </p:nvSpPr>
        <p:spPr>
          <a:xfrm>
            <a:off x="8458200" y="1417320"/>
            <a:ext cx="283464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7E0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AAB0D79-4952-442F-BA0D-E61C9328031D}"/>
              </a:ext>
            </a:extLst>
          </p:cNvPr>
          <p:cNvSpPr>
            <a:spLocks noGrp="1"/>
          </p:cNvSpPr>
          <p:nvPr/>
        </p:nvSpPr>
        <p:spPr>
          <a:xfrm>
            <a:off x="8714232" y="165506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607086"/>
                </a:solidFill>
              </a:rPr>
              <a:t>SUCESSO =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EB97050-AA63-4F72-A775-8BC5C8CDCE34}"/>
              </a:ext>
            </a:extLst>
          </p:cNvPr>
          <p:cNvSpPr>
            <a:spLocks noGrp="1"/>
          </p:cNvSpPr>
          <p:nvPr/>
        </p:nvSpPr>
        <p:spPr>
          <a:xfrm>
            <a:off x="8641080" y="1956816"/>
            <a:ext cx="2331720" cy="1024128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fluxos preservados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riscos visíveis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mudanças mínimas</a:t>
            </a:r>
            <a:endParaRPr sz="15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EFEAF22-7A4C-42D5-A649-FC8BE6A0BAFD}"/>
              </a:ext>
            </a:extLst>
          </p:cNvPr>
          <p:cNvSpPr>
            <a:spLocks noGrp="1"/>
          </p:cNvSpPr>
          <p:nvPr/>
        </p:nvSpPr>
        <p:spPr>
          <a:xfrm>
            <a:off x="713232" y="365760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756F284-7C99-4F80-A1CC-CD7FD93FBA56}"/>
              </a:ext>
            </a:extLst>
          </p:cNvPr>
          <p:cNvSpPr>
            <a:spLocks noGrp="1"/>
          </p:cNvSpPr>
          <p:nvPr/>
        </p:nvSpPr>
        <p:spPr>
          <a:xfrm>
            <a:off x="914400" y="3922776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0F766E"/>
                </a:solidFill>
              </a:rPr>
              <a:t>Permanece estável</a:t>
            </a:r>
            <a:endParaRPr sz="12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38576F0-B4B5-4B85-966C-4CBC57949315}"/>
              </a:ext>
            </a:extLst>
          </p:cNvPr>
          <p:cNvSpPr>
            <a:spLocks noGrp="1"/>
          </p:cNvSpPr>
          <p:nvPr/>
        </p:nvSpPr>
        <p:spPr>
          <a:xfrm>
            <a:off x="2331720" y="3886200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20" b="1">
                <a:solidFill>
                  <a:srgbClr val="243447"/>
                </a:solidFill>
              </a:rPr>
              <a:t>Java 8  •  javax.*  •  arquitetura Java EE  •  contratos  •  comportamento</a:t>
            </a:r>
            <a:endParaRPr sz="16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593B3E8-A0DE-49E9-929F-75E683E01BAF}"/>
              </a:ext>
            </a:extLst>
          </p:cNvPr>
          <p:cNvSpPr>
            <a:spLocks noGrp="1"/>
          </p:cNvSpPr>
          <p:nvPr/>
        </p:nvSpPr>
        <p:spPr>
          <a:xfrm>
            <a:off x="804672" y="5047488"/>
            <a:ext cx="10332720" cy="5943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marL="0" indent="0" algn="l">
              <a:buNone/>
            </a:pPr>
            <a:r>
              <a:rPr sz="112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Meta registrada na reunião: produção até 29/12. O plano macro atual trabalha com a janela mais restritiva: PRD até 18/12, antes do freeze de 19/12.</a:t>
            </a:r>
            <a:endParaRPr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8E8C196-4C64-4082-842B-8DC6C2202EDB}"/>
              </a:ext>
            </a:extLst>
          </p:cNvPr>
          <p:cNvSpPr>
            <a:spLocks noGrp="1"/>
          </p:cNvSpPr>
          <p:nvPr/>
        </p:nvSpPr>
        <p:spPr>
          <a:xfrm>
            <a:off x="8705088" y="562356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B433C63-44A6-4200-817B-4B97EE86E1DE}"/>
              </a:ext>
            </a:extLst>
          </p:cNvPr>
          <p:cNvSpPr>
            <a:spLocks noGrp="1"/>
          </p:cNvSpPr>
          <p:nvPr/>
        </p:nvSpPr>
        <p:spPr>
          <a:xfrm>
            <a:off x="8778240" y="5682996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B7791F"/>
                </a:solidFill>
              </a:rPr>
              <a:t>data-alvo ≠ estimativa pronta</a:t>
            </a:r>
            <a:endParaRPr sz="10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D98480A-D3BC-49A6-8C65-047E25DCBD48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C97C66B-5880-4F89-B080-054D87BD6678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Briefing — mensagem central; Estratégia §1.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ACEC939-CA50-4759-8382-070E0914A58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143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E3C72F-EBB0-4C90-AB80-26902DC7888E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Guardrails da migração mínima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479E60-58D3-4650-BA52-27D559945C31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O escopo é compatibilidade com EAP 7.4 — não uma modernização indiscriminada.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E9ABD7-B488-43FE-A07B-545DFF047CFD}"/>
              </a:ext>
            </a:extLst>
          </p:cNvPr>
          <p:cNvSpPr>
            <a:spLocks noGrp="1"/>
          </p:cNvSpPr>
          <p:nvPr/>
        </p:nvSpPr>
        <p:spPr>
          <a:xfrm>
            <a:off x="713232" y="1353312"/>
            <a:ext cx="5120640" cy="4315968"/>
          </a:xfrm>
          <a:prstGeom prst="roundRect">
            <a:avLst>
              <a:gd name="adj" fmla="val 1695"/>
            </a:avLst>
          </a:prstGeom>
          <a:solidFill>
            <a:srgbClr val="E9F7F5"/>
          </a:solidFill>
          <a:ln w="12700">
            <a:solidFill>
              <a:srgbClr val="C9E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908BC7-075D-4EB9-83DC-3F22A7648F73}"/>
              </a:ext>
            </a:extLst>
          </p:cNvPr>
          <p:cNvSpPr>
            <a:spLocks noGrp="1"/>
          </p:cNvSpPr>
          <p:nvPr/>
        </p:nvSpPr>
        <p:spPr>
          <a:xfrm>
            <a:off x="960120" y="16276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F766E"/>
                </a:solidFill>
              </a:rPr>
              <a:t>PRESERVAR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E652D7-158D-4E3F-A56D-5C0B50D829E9}"/>
              </a:ext>
            </a:extLst>
          </p:cNvPr>
          <p:cNvSpPr>
            <a:spLocks noGrp="1"/>
          </p:cNvSpPr>
          <p:nvPr/>
        </p:nvSpPr>
        <p:spPr>
          <a:xfrm>
            <a:off x="932688" y="2029968"/>
            <a:ext cx="4526280" cy="297180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JDK 8 para build, testes e execução da aplicação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`javax.*` — sem conversão para `jakarta.*`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estrutura Java EE: EJB, CDI, DAOs, entidades e transações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empacotamento e contratos existentes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cliente Red Hat SSO e protocolos/claims usados pela aplicação</a:t>
            </a:r>
            <a:endParaRPr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7B65636-46FF-4C50-824E-77756E9B9154}"/>
              </a:ext>
            </a:extLst>
          </p:cNvPr>
          <p:cNvSpPr>
            <a:spLocks noGrp="1"/>
          </p:cNvSpPr>
          <p:nvPr/>
        </p:nvSpPr>
        <p:spPr>
          <a:xfrm>
            <a:off x="6144768" y="1353312"/>
            <a:ext cx="5120640" cy="4315968"/>
          </a:xfrm>
          <a:prstGeom prst="roundRect">
            <a:avLst>
              <a:gd name="adj" fmla="val 1695"/>
            </a:avLst>
          </a:prstGeom>
          <a:solidFill>
            <a:srgbClr val="EAF2FF"/>
          </a:solidFill>
          <a:ln w="12700">
            <a:solidFill>
              <a:srgbClr val="CAD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6B0237-386D-465E-A929-87C9ED23F641}"/>
              </a:ext>
            </a:extLst>
          </p:cNvPr>
          <p:cNvSpPr>
            <a:spLocks noGrp="1"/>
          </p:cNvSpPr>
          <p:nvPr/>
        </p:nvSpPr>
        <p:spPr>
          <a:xfrm>
            <a:off x="6382512" y="162763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F6FEB"/>
                </a:solidFill>
              </a:rPr>
              <a:t>VALIDAR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C42525-C350-44D2-98DA-9EF9B10DF1D2}"/>
              </a:ext>
            </a:extLst>
          </p:cNvPr>
          <p:cNvSpPr>
            <a:spLocks noGrp="1"/>
          </p:cNvSpPr>
          <p:nvPr/>
        </p:nvSpPr>
        <p:spPr>
          <a:xfrm>
            <a:off x="6364224" y="2029968"/>
            <a:ext cx="4526280" cy="297180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Hibernate do EAP: linha 5.1 → 5.3 e diferenças de comportamento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provedor de persistência realmente carregado em runtime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bibliotecas internas e consumidores afetados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compatibilidade do cliente SSO efetivamente utilizado</a:t>
            </a:r>
            <a:endParaRPr sz="1600"/>
          </a:p>
          <a:p>
            <a:pPr marL="177800" indent="-177800">
              <a:buSzPct val="100000"/>
              <a:buChar char="•"/>
            </a:pPr>
            <a:r>
              <a:rPr sz="1600">
                <a:solidFill>
                  <a:srgbClr val="243447"/>
                </a:solidFill>
                <a:latin typeface="Aptos"/>
                <a:ea typeface="Aptos"/>
                <a:cs typeface="Aptos"/>
              </a:rPr>
              <a:t>JVM, patch do EAP, sistema operacional e condições de suporte</a:t>
            </a:r>
            <a:endParaRPr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88F6DE1-FB3A-472A-8A6C-88B4B6F45837}"/>
              </a:ext>
            </a:extLst>
          </p:cNvPr>
          <p:cNvSpPr>
            <a:spLocks noGrp="1"/>
          </p:cNvSpPr>
          <p:nvPr/>
        </p:nvSpPr>
        <p:spPr>
          <a:xfrm>
            <a:off x="713232" y="5797296"/>
            <a:ext cx="10561320" cy="438912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271BA7-8E87-48A4-9FC5-E22D429A696C}"/>
              </a:ext>
            </a:extLst>
          </p:cNvPr>
          <p:cNvSpPr>
            <a:spLocks noGrp="1"/>
          </p:cNvSpPr>
          <p:nvPr/>
        </p:nvSpPr>
        <p:spPr>
          <a:xfrm>
            <a:off x="914400" y="5907024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B42318"/>
                </a:solidFill>
              </a:rPr>
              <a:t>Fora do escopo: migrar para Jakarta EE 9+ / `jakarta.*`, Hibernate 6 ou redesenhar a aplicação sem incompatibilidade demonstrada.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24C44A7-3992-41E2-A021-59C3532D285F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F6D050-AD4A-4612-986B-C7D6D8073C01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Estratégia §2 — matriz de compatibilidade e migração mínima.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2FD304F-49C2-455C-ADA6-147687A06B2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39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D384F2-3BBA-4E50-9740-F97AEF0C5B63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Antes da migração: preparar cada máquina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99BBC0-4812-4948-9C1A-9C766D217C29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Repetibilidade começa pelo ambiente — paths, versões e permissões explícitos.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B48906-03F8-4155-8E21-C65A15D605BA}"/>
              </a:ext>
            </a:extLst>
          </p:cNvPr>
          <p:cNvSpPr>
            <a:spLocks noGrp="1"/>
          </p:cNvSpPr>
          <p:nvPr/>
        </p:nvSpPr>
        <p:spPr>
          <a:xfrm>
            <a:off x="713232" y="1572768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E3689D-CD97-40DE-AB6E-D30BF53E8F0B}"/>
              </a:ext>
            </a:extLst>
          </p:cNvPr>
          <p:cNvSpPr>
            <a:spLocks noGrp="1"/>
          </p:cNvSpPr>
          <p:nvPr/>
        </p:nvSpPr>
        <p:spPr>
          <a:xfrm>
            <a:off x="1188720" y="181051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1DB5C0-6353-49D2-94C9-58785AC4699C}"/>
              </a:ext>
            </a:extLst>
          </p:cNvPr>
          <p:cNvSpPr>
            <a:spLocks noGrp="1"/>
          </p:cNvSpPr>
          <p:nvPr/>
        </p:nvSpPr>
        <p:spPr>
          <a:xfrm>
            <a:off x="1188720" y="192481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CB54A2-FAAB-492B-8866-FAAAE3EC4A3F}"/>
              </a:ext>
            </a:extLst>
          </p:cNvPr>
          <p:cNvSpPr>
            <a:spLocks noGrp="1"/>
          </p:cNvSpPr>
          <p:nvPr/>
        </p:nvSpPr>
        <p:spPr>
          <a:xfrm>
            <a:off x="822960" y="2560320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7324D"/>
                </a:solidFill>
              </a:rPr>
              <a:t>Workspace</a:t>
            </a:r>
            <a:endParaRPr sz="14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83C112-CB3C-43D4-89AD-BE1E13731CE5}"/>
              </a:ext>
            </a:extLst>
          </p:cNvPr>
          <p:cNvSpPr>
            <a:spLocks noGrp="1"/>
          </p:cNvSpPr>
          <p:nvPr/>
        </p:nvSpPr>
        <p:spPr>
          <a:xfrm>
            <a:off x="804672" y="2871216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repos, módulos</a:t>
            </a:r>
            <a:endParaRPr sz="1170"/>
          </a:p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e ordem de build</a:t>
            </a:r>
            <a:endParaRPr sz="117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7086F3E-A781-41DC-AB32-68EC8F384A7F}"/>
              </a:ext>
            </a:extLst>
          </p:cNvPr>
          <p:cNvSpPr>
            <a:spLocks noGrp="1"/>
          </p:cNvSpPr>
          <p:nvPr/>
        </p:nvSpPr>
        <p:spPr>
          <a:xfrm>
            <a:off x="2578608" y="1572768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E9F7F5"/>
          </a:solidFill>
          <a:ln w="12700">
            <a:solidFill>
              <a:srgbClr val="C7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1B3CA8F-AE8E-42AA-ADA2-8DF03CF28B68}"/>
              </a:ext>
            </a:extLst>
          </p:cNvPr>
          <p:cNvSpPr>
            <a:spLocks noGrp="1"/>
          </p:cNvSpPr>
          <p:nvPr/>
        </p:nvSpPr>
        <p:spPr>
          <a:xfrm>
            <a:off x="3054096" y="181051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0B5FBD-9EDD-4286-B501-9980B53F2336}"/>
              </a:ext>
            </a:extLst>
          </p:cNvPr>
          <p:cNvSpPr>
            <a:spLocks noGrp="1"/>
          </p:cNvSpPr>
          <p:nvPr/>
        </p:nvSpPr>
        <p:spPr>
          <a:xfrm>
            <a:off x="3054096" y="192481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39D16A-65C9-43AA-BA55-ECAC5CC7FEFB}"/>
              </a:ext>
            </a:extLst>
          </p:cNvPr>
          <p:cNvSpPr>
            <a:spLocks noGrp="1"/>
          </p:cNvSpPr>
          <p:nvPr/>
        </p:nvSpPr>
        <p:spPr>
          <a:xfrm>
            <a:off x="2688336" y="2560320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7324D"/>
                </a:solidFill>
              </a:rPr>
              <a:t>JDKs</a:t>
            </a:r>
            <a:endParaRPr sz="14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5ECB8C-0F3D-4FC4-A62B-D539EFB9D9E5}"/>
              </a:ext>
            </a:extLst>
          </p:cNvPr>
          <p:cNvSpPr>
            <a:spLocks noGrp="1"/>
          </p:cNvSpPr>
          <p:nvPr/>
        </p:nvSpPr>
        <p:spPr>
          <a:xfrm>
            <a:off x="2670048" y="2871216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JDK 8 para app</a:t>
            </a:r>
            <a:endParaRPr sz="1170"/>
          </a:p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JDKs das ferramentas</a:t>
            </a:r>
            <a:endParaRPr sz="117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85E062A-A482-444A-95CA-99C9AA8359F4}"/>
              </a:ext>
            </a:extLst>
          </p:cNvPr>
          <p:cNvSpPr>
            <a:spLocks noGrp="1"/>
          </p:cNvSpPr>
          <p:nvPr/>
        </p:nvSpPr>
        <p:spPr>
          <a:xfrm>
            <a:off x="4443984" y="1572768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A35A580-CEDC-453C-99BB-6C9F983C028F}"/>
              </a:ext>
            </a:extLst>
          </p:cNvPr>
          <p:cNvSpPr>
            <a:spLocks noGrp="1"/>
          </p:cNvSpPr>
          <p:nvPr/>
        </p:nvSpPr>
        <p:spPr>
          <a:xfrm>
            <a:off x="4919472" y="181051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D4C03E-39C5-4ADA-9778-37574EB192F3}"/>
              </a:ext>
            </a:extLst>
          </p:cNvPr>
          <p:cNvSpPr>
            <a:spLocks noGrp="1"/>
          </p:cNvSpPr>
          <p:nvPr/>
        </p:nvSpPr>
        <p:spPr>
          <a:xfrm>
            <a:off x="4919472" y="192481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41E08D9-881D-41D9-A6DE-96E6D8E87C90}"/>
              </a:ext>
            </a:extLst>
          </p:cNvPr>
          <p:cNvSpPr>
            <a:spLocks noGrp="1"/>
          </p:cNvSpPr>
          <p:nvPr/>
        </p:nvSpPr>
        <p:spPr>
          <a:xfrm>
            <a:off x="4553712" y="2560320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7324D"/>
                </a:solidFill>
              </a:rPr>
              <a:t>Maven</a:t>
            </a:r>
            <a:endParaRPr sz="14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EDF50A-E885-4A5D-84EF-0A19A7A6E237}"/>
              </a:ext>
            </a:extLst>
          </p:cNvPr>
          <p:cNvSpPr>
            <a:spLocks noGrp="1"/>
          </p:cNvSpPr>
          <p:nvPr/>
        </p:nvSpPr>
        <p:spPr>
          <a:xfrm>
            <a:off x="4535424" y="2871216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wrapper/settings</a:t>
            </a:r>
            <a:endParaRPr sz="1170"/>
          </a:p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e repositórios</a:t>
            </a:r>
            <a:endParaRPr sz="117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2E60497-FA24-48E7-B06C-AC43A2E5806D}"/>
              </a:ext>
            </a:extLst>
          </p:cNvPr>
          <p:cNvSpPr>
            <a:spLocks noGrp="1"/>
          </p:cNvSpPr>
          <p:nvPr/>
        </p:nvSpPr>
        <p:spPr>
          <a:xfrm>
            <a:off x="6309360" y="1572768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7FAF04C-E8A3-40C7-B780-B8D79F50D079}"/>
              </a:ext>
            </a:extLst>
          </p:cNvPr>
          <p:cNvSpPr>
            <a:spLocks noGrp="1"/>
          </p:cNvSpPr>
          <p:nvPr/>
        </p:nvSpPr>
        <p:spPr>
          <a:xfrm>
            <a:off x="6784848" y="181051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9C92F8A-3727-4610-B0F3-1192DDACA606}"/>
              </a:ext>
            </a:extLst>
          </p:cNvPr>
          <p:cNvSpPr>
            <a:spLocks noGrp="1"/>
          </p:cNvSpPr>
          <p:nvPr/>
        </p:nvSpPr>
        <p:spPr>
          <a:xfrm>
            <a:off x="6784848" y="192481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973FF2E-1AFE-4541-A565-579401C68C77}"/>
              </a:ext>
            </a:extLst>
          </p:cNvPr>
          <p:cNvSpPr>
            <a:spLocks noGrp="1"/>
          </p:cNvSpPr>
          <p:nvPr/>
        </p:nvSpPr>
        <p:spPr>
          <a:xfrm>
            <a:off x="6419088" y="2560320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7324D"/>
                </a:solidFill>
              </a:rPr>
              <a:t>MTA</a:t>
            </a:r>
            <a:endParaRPr sz="14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09529B-7EA9-402E-996E-5173684E7370}"/>
              </a:ext>
            </a:extLst>
          </p:cNvPr>
          <p:cNvSpPr>
            <a:spLocks noGrp="1"/>
          </p:cNvSpPr>
          <p:nvPr/>
        </p:nvSpPr>
        <p:spPr>
          <a:xfrm>
            <a:off x="6400800" y="2871216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instalação local</a:t>
            </a:r>
            <a:endParaRPr sz="1170"/>
          </a:p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regras + saída por run</a:t>
            </a:r>
            <a:endParaRPr sz="117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4FA0CBA-029A-4B49-A0B8-E36673E6D80B}"/>
              </a:ext>
            </a:extLst>
          </p:cNvPr>
          <p:cNvSpPr>
            <a:spLocks noGrp="1"/>
          </p:cNvSpPr>
          <p:nvPr/>
        </p:nvSpPr>
        <p:spPr>
          <a:xfrm>
            <a:off x="8174736" y="1572768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EAF2FF"/>
          </a:solidFill>
          <a:ln w="12700">
            <a:solidFill>
              <a:srgbClr val="C9D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7AA6A4C-C4D5-4C18-8363-129AD9C50BE1}"/>
              </a:ext>
            </a:extLst>
          </p:cNvPr>
          <p:cNvSpPr>
            <a:spLocks noGrp="1"/>
          </p:cNvSpPr>
          <p:nvPr/>
        </p:nvSpPr>
        <p:spPr>
          <a:xfrm>
            <a:off x="8650224" y="1810512"/>
            <a:ext cx="566928" cy="5669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3C3CD71-3F89-46B9-8FF1-83FA63162F9D}"/>
              </a:ext>
            </a:extLst>
          </p:cNvPr>
          <p:cNvSpPr>
            <a:spLocks noGrp="1"/>
          </p:cNvSpPr>
          <p:nvPr/>
        </p:nvSpPr>
        <p:spPr>
          <a:xfrm>
            <a:off x="8650224" y="192481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E6509AB-B0A7-4742-BDD2-B55E47B68785}"/>
              </a:ext>
            </a:extLst>
          </p:cNvPr>
          <p:cNvSpPr>
            <a:spLocks noGrp="1"/>
          </p:cNvSpPr>
          <p:nvPr/>
        </p:nvSpPr>
        <p:spPr>
          <a:xfrm>
            <a:off x="8284464" y="2560320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7324D"/>
                </a:solidFill>
              </a:rPr>
              <a:t>Sonar</a:t>
            </a:r>
            <a:endParaRPr sz="14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078ADFA-AF8C-485F-8C93-B26EF4B1713D}"/>
              </a:ext>
            </a:extLst>
          </p:cNvPr>
          <p:cNvSpPr>
            <a:spLocks noGrp="1"/>
          </p:cNvSpPr>
          <p:nvPr/>
        </p:nvSpPr>
        <p:spPr>
          <a:xfrm>
            <a:off x="8266176" y="2871216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serviço corporativo</a:t>
            </a:r>
            <a:endParaRPr sz="1170"/>
          </a:p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baseline próprio</a:t>
            </a:r>
            <a:endParaRPr sz="117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58A731D-4EE2-4095-8468-4A09FAE80677}"/>
              </a:ext>
            </a:extLst>
          </p:cNvPr>
          <p:cNvSpPr>
            <a:spLocks noGrp="1"/>
          </p:cNvSpPr>
          <p:nvPr/>
        </p:nvSpPr>
        <p:spPr>
          <a:xfrm>
            <a:off x="10040112" y="1572768"/>
            <a:ext cx="1536192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51D390F-BE5C-4BFA-94ED-F1D620A55A57}"/>
              </a:ext>
            </a:extLst>
          </p:cNvPr>
          <p:cNvSpPr>
            <a:spLocks noGrp="1"/>
          </p:cNvSpPr>
          <p:nvPr/>
        </p:nvSpPr>
        <p:spPr>
          <a:xfrm>
            <a:off x="10515600" y="1810512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74268F2-D83B-46E2-9460-492A738BDA19}"/>
              </a:ext>
            </a:extLst>
          </p:cNvPr>
          <p:cNvSpPr>
            <a:spLocks noGrp="1"/>
          </p:cNvSpPr>
          <p:nvPr/>
        </p:nvSpPr>
        <p:spPr>
          <a:xfrm>
            <a:off x="10515600" y="192481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2A64EC0-A295-4833-80A1-A771C009B208}"/>
              </a:ext>
            </a:extLst>
          </p:cNvPr>
          <p:cNvSpPr>
            <a:spLocks noGrp="1"/>
          </p:cNvSpPr>
          <p:nvPr/>
        </p:nvSpPr>
        <p:spPr>
          <a:xfrm>
            <a:off x="10149840" y="2560320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17324D"/>
                </a:solidFill>
              </a:rPr>
              <a:t>EAPs</a:t>
            </a:r>
            <a:endParaRPr sz="145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961E2FF-8C58-4E31-9735-F9252DF2B201}"/>
              </a:ext>
            </a:extLst>
          </p:cNvPr>
          <p:cNvSpPr>
            <a:spLocks noGrp="1"/>
          </p:cNvSpPr>
          <p:nvPr/>
        </p:nvSpPr>
        <p:spPr>
          <a:xfrm>
            <a:off x="10131552" y="2871216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7.1 e 7.4</a:t>
            </a:r>
            <a:endParaRPr sz="1170"/>
          </a:p>
          <a:p>
            <a:pPr marL="0" indent="0" algn="ctr">
              <a:buNone/>
            </a:pPr>
            <a:r>
              <a:rPr sz="1170">
                <a:solidFill>
                  <a:srgbClr val="607086"/>
                </a:solidFill>
              </a:rPr>
              <a:t>um por vez</a:t>
            </a:r>
            <a:endParaRPr sz="117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E6D12A1-8D0D-45F5-B568-3B8C39F1DAFB}"/>
              </a:ext>
            </a:extLst>
          </p:cNvPr>
          <p:cNvSpPr>
            <a:spLocks noGrp="1"/>
          </p:cNvSpPr>
          <p:nvPr/>
        </p:nvSpPr>
        <p:spPr>
          <a:xfrm>
            <a:off x="713232" y="3950208"/>
            <a:ext cx="10863072" cy="1243584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12700">
            <a:solidFill>
              <a:srgbClr val="D8E1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0C4EF44-B5A0-4A94-BBA0-D5963C3FBF1C}"/>
              </a:ext>
            </a:extLst>
          </p:cNvPr>
          <p:cNvSpPr>
            <a:spLocks noGrp="1"/>
          </p:cNvSpPr>
          <p:nvPr/>
        </p:nvSpPr>
        <p:spPr>
          <a:xfrm>
            <a:off x="960120" y="423367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7324D"/>
                </a:solidFill>
              </a:rPr>
              <a:t>VS Code = centro operacional</a:t>
            </a:r>
            <a:endParaRPr sz="18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04A73AF-B2BE-4526-80B6-2858F38AFBCF}"/>
              </a:ext>
            </a:extLst>
          </p:cNvPr>
          <p:cNvSpPr>
            <a:spLocks noGrp="1"/>
          </p:cNvSpPr>
          <p:nvPr/>
        </p:nvSpPr>
        <p:spPr>
          <a:xfrm>
            <a:off x="960120" y="464515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dirty="0">
                <a:solidFill>
                  <a:srgbClr val="607086"/>
                </a:solidFill>
              </a:rPr>
              <a:t>harness + </a:t>
            </a:r>
            <a:r>
              <a:rPr sz="1250" dirty="0" err="1">
                <a:solidFill>
                  <a:srgbClr val="607086"/>
                </a:solidFill>
              </a:rPr>
              <a:t>aplicação</a:t>
            </a:r>
            <a:r>
              <a:rPr sz="1250" dirty="0">
                <a:solidFill>
                  <a:srgbClr val="607086"/>
                </a:solidFill>
              </a:rPr>
              <a:t> + </a:t>
            </a:r>
            <a:r>
              <a:rPr sz="1250" dirty="0" err="1">
                <a:solidFill>
                  <a:srgbClr val="607086"/>
                </a:solidFill>
              </a:rPr>
              <a:t>bibliotecas</a:t>
            </a:r>
            <a:r>
              <a:rPr sz="1250" dirty="0">
                <a:solidFill>
                  <a:srgbClr val="607086"/>
                </a:solidFill>
              </a:rPr>
              <a:t> + </a:t>
            </a:r>
            <a:r>
              <a:rPr sz="1250" dirty="0" err="1">
                <a:solidFill>
                  <a:srgbClr val="607086"/>
                </a:solidFill>
              </a:rPr>
              <a:t>evidências</a:t>
            </a:r>
            <a:endParaRPr sz="12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1A8E13D-F1C7-4092-BF8F-DA920459B108}"/>
              </a:ext>
            </a:extLst>
          </p:cNvPr>
          <p:cNvSpPr>
            <a:spLocks noGrp="1"/>
          </p:cNvSpPr>
          <p:nvPr/>
        </p:nvSpPr>
        <p:spPr>
          <a:xfrm>
            <a:off x="4041648" y="4169664"/>
            <a:ext cx="0" cy="749808"/>
          </a:xfrm>
          <a:prstGeom prst="line">
            <a:avLst/>
          </a:prstGeom>
          <a:noFill/>
          <a:ln w="12700">
            <a:solidFill>
              <a:srgbClr val="CBD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4F7C8A2-8AC0-495D-9AA0-83AE8F4AA46E}"/>
              </a:ext>
            </a:extLst>
          </p:cNvPr>
          <p:cNvSpPr>
            <a:spLocks noGrp="1"/>
          </p:cNvSpPr>
          <p:nvPr/>
        </p:nvSpPr>
        <p:spPr>
          <a:xfrm>
            <a:off x="4343400" y="4187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766E"/>
                </a:solidFill>
              </a:rPr>
              <a:t>Princípios</a:t>
            </a:r>
            <a:endParaRPr sz="12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1EEDBBC-06B1-4A2E-890D-435D2F70E756}"/>
              </a:ext>
            </a:extLst>
          </p:cNvPr>
          <p:cNvSpPr>
            <a:spLocks noGrp="1"/>
          </p:cNvSpPr>
          <p:nvPr/>
        </p:nvSpPr>
        <p:spPr>
          <a:xfrm>
            <a:off x="5266944" y="4123944"/>
            <a:ext cx="54406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20">
                <a:solidFill>
                  <a:srgbClr val="243447"/>
                </a:solidFill>
              </a:rPr>
              <a:t>• paths explícitos por ferramenta</a:t>
            </a:r>
            <a:endParaRPr sz="1320"/>
          </a:p>
          <a:p>
            <a:pPr marL="0" indent="0">
              <a:buNone/>
            </a:pPr>
            <a:r>
              <a:rPr sz="1320">
                <a:solidFill>
                  <a:srgbClr val="243447"/>
                </a:solidFill>
              </a:rPr>
              <a:t>• não depender do PATH global</a:t>
            </a:r>
            <a:endParaRPr sz="1320"/>
          </a:p>
          <a:p>
            <a:pPr marL="0" indent="0">
              <a:buNone/>
            </a:pPr>
            <a:r>
              <a:rPr sz="1320">
                <a:solidFill>
                  <a:srgbClr val="243447"/>
                </a:solidFill>
              </a:rPr>
              <a:t>• diagnóstico e ensaio antes de considerar a máquina pronta</a:t>
            </a:r>
            <a:endParaRPr sz="132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C7F7481-2850-414F-A8F0-7D9B2F01B51B}"/>
              </a:ext>
            </a:extLst>
          </p:cNvPr>
          <p:cNvSpPr>
            <a:spLocks noGrp="1"/>
          </p:cNvSpPr>
          <p:nvPr/>
        </p:nvSpPr>
        <p:spPr>
          <a:xfrm>
            <a:off x="8211312" y="5376672"/>
            <a:ext cx="2971800" cy="320040"/>
          </a:xfrm>
          <a:prstGeom prst="roundRect">
            <a:avLst>
              <a:gd name="adj" fmla="val 22857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9DB92E7-66CD-4E02-9DE9-81438AEBB85A}"/>
              </a:ext>
            </a:extLst>
          </p:cNvPr>
          <p:cNvSpPr>
            <a:spLocks noGrp="1"/>
          </p:cNvSpPr>
          <p:nvPr/>
        </p:nvSpPr>
        <p:spPr>
          <a:xfrm>
            <a:off x="8284464" y="5436108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43447"/>
                </a:solidFill>
              </a:rPr>
              <a:t>PowerShell 5.1 + execução manual assistida</a:t>
            </a:r>
            <a:endParaRPr sz="105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0D3F23C-C21C-4D83-BB8B-B828EFB8BD97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2389F92-4671-47CC-8653-5265AB12B171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Briefing — preparação das máquinas; Estratégia §§1, 8.1.</a:t>
            </a:r>
            <a:endParaRPr sz="880"/>
          </a:p>
        </p:txBody>
      </p:sp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FA0CE75D-A82A-433D-9A7F-96FDF6F2E3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68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A93AA7-230E-4D23-8D72-917DFB620092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Preparar também o ambiente de execução corporativo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77B701-3380-406C-9A31-B24732038346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Código, configuração, imagem e esteira precisam permanecer rastreáveis durante a transição.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D755FC-3E1D-45C6-84B8-137288C914DA}"/>
              </a:ext>
            </a:extLst>
          </p:cNvPr>
          <p:cNvSpPr>
            <a:spLocks noGrp="1"/>
          </p:cNvSpPr>
          <p:nvPr/>
        </p:nvSpPr>
        <p:spPr>
          <a:xfrm>
            <a:off x="713232" y="141732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C21009-DD15-42D0-A6F6-8DD5FBA1BC34}"/>
              </a:ext>
            </a:extLst>
          </p:cNvPr>
          <p:cNvSpPr>
            <a:spLocks noGrp="1"/>
          </p:cNvSpPr>
          <p:nvPr/>
        </p:nvSpPr>
        <p:spPr>
          <a:xfrm>
            <a:off x="950976" y="16824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</a:rPr>
              <a:t>Escopo informado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EEA3E7-7AF5-4733-AAA8-45D023429992}"/>
              </a:ext>
            </a:extLst>
          </p:cNvPr>
          <p:cNvSpPr>
            <a:spLocks noGrp="1"/>
          </p:cNvSpPr>
          <p:nvPr/>
        </p:nvSpPr>
        <p:spPr>
          <a:xfrm>
            <a:off x="932688" y="2212848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000" b="1">
                <a:solidFill>
                  <a:srgbClr val="2F6FEB"/>
                </a:solidFill>
              </a:rPr>
              <a:t>16</a:t>
            </a:r>
            <a:endParaRPr sz="4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C749D9-6BB5-4E1A-A20D-A5F876EEDF41}"/>
              </a:ext>
            </a:extLst>
          </p:cNvPr>
          <p:cNvSpPr>
            <a:spLocks noGrp="1"/>
          </p:cNvSpPr>
          <p:nvPr/>
        </p:nvSpPr>
        <p:spPr>
          <a:xfrm>
            <a:off x="1618488" y="23682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243447"/>
                </a:solidFill>
              </a:rPr>
              <a:t>repositórios SIMTR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C92441-3D84-48F7-9A11-FA680F90A27B}"/>
              </a:ext>
            </a:extLst>
          </p:cNvPr>
          <p:cNvSpPr>
            <a:spLocks noGrp="1"/>
          </p:cNvSpPr>
          <p:nvPr/>
        </p:nvSpPr>
        <p:spPr>
          <a:xfrm>
            <a:off x="914400" y="3090672"/>
            <a:ext cx="2697480" cy="123444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2 com build + release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12 somente com build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2 de configuração sem build/release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EA1E56B-9347-4917-980E-F3688A88C174}"/>
              </a:ext>
            </a:extLst>
          </p:cNvPr>
          <p:cNvSpPr>
            <a:spLocks noGrp="1"/>
          </p:cNvSpPr>
          <p:nvPr/>
        </p:nvSpPr>
        <p:spPr>
          <a:xfrm>
            <a:off x="914400" y="4690872"/>
            <a:ext cx="2706624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607086"/>
                </a:solidFill>
              </a:rPr>
              <a:t>Branch dedicada à migração nos repositórios envolvidos; configuração do standalone entra no mesmo controle de mudança.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D2EA49C-289B-4564-A81A-488C5C42DE56}"/>
              </a:ext>
            </a:extLst>
          </p:cNvPr>
          <p:cNvSpPr>
            <a:spLocks noGrp="1"/>
          </p:cNvSpPr>
          <p:nvPr/>
        </p:nvSpPr>
        <p:spPr>
          <a:xfrm>
            <a:off x="4279392" y="1417320"/>
            <a:ext cx="2944368" cy="4480560"/>
          </a:xfrm>
          <a:prstGeom prst="roundRect">
            <a:avLst>
              <a:gd name="adj" fmla="val 2484"/>
            </a:avLst>
          </a:prstGeom>
          <a:solidFill>
            <a:srgbClr val="EAF7EF"/>
          </a:solidFill>
          <a:ln w="12700">
            <a:solidFill>
              <a:srgbClr val="B9D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D01571-FE43-4318-BD3A-EA2867DB83DB}"/>
              </a:ext>
            </a:extLst>
          </p:cNvPr>
          <p:cNvSpPr>
            <a:spLocks noGrp="1"/>
          </p:cNvSpPr>
          <p:nvPr/>
        </p:nvSpPr>
        <p:spPr>
          <a:xfrm>
            <a:off x="4535424" y="1673352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27864A"/>
                </a:solidFill>
              </a:rPr>
              <a:t>COMPROVADO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A58FD6-A940-4D23-8395-7A2A8A726710}"/>
              </a:ext>
            </a:extLst>
          </p:cNvPr>
          <p:cNvSpPr>
            <a:spLocks noGrp="1"/>
          </p:cNvSpPr>
          <p:nvPr/>
        </p:nvSpPr>
        <p:spPr>
          <a:xfrm>
            <a:off x="4535424" y="208483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 dirty="0">
                <a:solidFill>
                  <a:srgbClr val="17324D"/>
                </a:solidFill>
              </a:rPr>
              <a:t>SIMTR-</a:t>
            </a:r>
            <a:r>
              <a:rPr sz="1700" b="1" dirty="0" err="1">
                <a:solidFill>
                  <a:srgbClr val="17324D"/>
                </a:solidFill>
              </a:rPr>
              <a:t>api</a:t>
            </a:r>
            <a:r>
              <a:rPr sz="1700" b="1" dirty="0">
                <a:solidFill>
                  <a:srgbClr val="17324D"/>
                </a:solidFill>
              </a:rPr>
              <a:t> / build</a:t>
            </a:r>
            <a:endParaRPr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9E43F8-AB6E-4769-A4B4-A3F7001817C4}"/>
              </a:ext>
            </a:extLst>
          </p:cNvPr>
          <p:cNvSpPr>
            <a:spLocks noGrp="1"/>
          </p:cNvSpPr>
          <p:nvPr/>
        </p:nvSpPr>
        <p:spPr>
          <a:xfrm>
            <a:off x="4480560" y="2560320"/>
            <a:ext cx="2414016" cy="1572768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`tag_imagem` editável em Run Pipeline → Variables</a:t>
            </a:r>
            <a:endParaRPr sz="1420"/>
          </a:p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padrão `7.1.0-mscore-fonts` preservado</a:t>
            </a:r>
            <a:endParaRPr sz="1420"/>
          </a:p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atendimento restrito ao SIMTR-api</a:t>
            </a:r>
            <a:endParaRPr sz="142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DE00C2C-1995-4D05-8349-128F3F59A9E6}"/>
              </a:ext>
            </a:extLst>
          </p:cNvPr>
          <p:cNvSpPr>
            <a:spLocks noGrp="1"/>
          </p:cNvSpPr>
          <p:nvPr/>
        </p:nvSpPr>
        <p:spPr>
          <a:xfrm>
            <a:off x="4572000" y="5010912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D7F0DF"/>
          </a:solidFill>
          <a:ln w="12700">
            <a:solidFill>
              <a:srgbClr val="D7F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52B5E0A-03AF-4B88-ACA9-6DB4A7FB0511}"/>
              </a:ext>
            </a:extLst>
          </p:cNvPr>
          <p:cNvSpPr>
            <a:spLocks noGrp="1"/>
          </p:cNvSpPr>
          <p:nvPr/>
        </p:nvSpPr>
        <p:spPr>
          <a:xfrm>
            <a:off x="4645152" y="5070348"/>
            <a:ext cx="17282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7864A"/>
                </a:solidFill>
              </a:rPr>
              <a:t>REQ000146143089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7D42A6-A5FE-4576-B2DB-63BE275829A1}"/>
              </a:ext>
            </a:extLst>
          </p:cNvPr>
          <p:cNvSpPr>
            <a:spLocks noGrp="1"/>
          </p:cNvSpPr>
          <p:nvPr/>
        </p:nvSpPr>
        <p:spPr>
          <a:xfrm>
            <a:off x="7543800" y="141732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FFF6E5"/>
          </a:solidFill>
          <a:ln w="12700">
            <a:solidFill>
              <a:srgbClr val="EED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4856B6D-33BF-47A8-BE61-60B9D61881D8}"/>
              </a:ext>
            </a:extLst>
          </p:cNvPr>
          <p:cNvSpPr>
            <a:spLocks noGrp="1"/>
          </p:cNvSpPr>
          <p:nvPr/>
        </p:nvSpPr>
        <p:spPr>
          <a:xfrm>
            <a:off x="7799832" y="1673352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B7791F"/>
                </a:solidFill>
              </a:rPr>
              <a:t>PARA VALIDAR</a:t>
            </a:r>
            <a:endParaRPr sz="1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259089-9A7F-4651-9007-6E894F389EF1}"/>
              </a:ext>
            </a:extLst>
          </p:cNvPr>
          <p:cNvSpPr>
            <a:spLocks noGrp="1"/>
          </p:cNvSpPr>
          <p:nvPr/>
        </p:nvSpPr>
        <p:spPr>
          <a:xfrm>
            <a:off x="7754112" y="2103120"/>
            <a:ext cx="3127248" cy="260604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testar `7.4.11-openjdk-8` como imagem candidata</a:t>
            </a:r>
            <a:endParaRPr sz="1420"/>
          </a:p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conferir fontes, módulos e recursos adicionais</a:t>
            </a:r>
            <a:endParaRPr sz="1420"/>
          </a:p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aplicar variáveis do standalone correspondentes</a:t>
            </a:r>
            <a:endParaRPr sz="1420"/>
          </a:p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validar startup, cenário funcional e coexistência no OKD 4</a:t>
            </a:r>
            <a:endParaRPr sz="1420"/>
          </a:p>
          <a:p>
            <a:pPr marL="177800" indent="-177800">
              <a:buSzPct val="100000"/>
              <a:buChar char="•"/>
            </a:pPr>
            <a:r>
              <a:rPr sz="1420">
                <a:solidFill>
                  <a:srgbClr val="243447"/>
                </a:solidFill>
                <a:latin typeface="Aptos"/>
                <a:ea typeface="Aptos"/>
                <a:cs typeface="Aptos"/>
              </a:rPr>
              <a:t>estender a estratégia ao SIMTR-Outsourcing-api</a:t>
            </a:r>
            <a:endParaRPr sz="14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6D4E42-19A7-4240-9029-BD1AF7BB96E3}"/>
              </a:ext>
            </a:extLst>
          </p:cNvPr>
          <p:cNvSpPr>
            <a:spLocks noGrp="1"/>
          </p:cNvSpPr>
          <p:nvPr/>
        </p:nvSpPr>
        <p:spPr>
          <a:xfrm>
            <a:off x="7845552" y="5175504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B42318"/>
                </a:solidFill>
              </a:rPr>
              <a:t>Variável editável ≠ build/deploy validados</a:t>
            </a:r>
            <a:endParaRPr sz="122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D1CBA5F-73D4-4B4D-9CE8-F1EC0D766D8F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B51F913-C392-42C0-B79B-473D6AA88B4D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Estratégia §§3.1–3.2; Briefing — ambiente de execução.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6923EAA-1854-47D4-B609-AE50E0582E4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194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212FD-18D7-48F5-B822-F65F63D8C2B9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71"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Lote de correção: um objetivo, várias ocorrências possíveis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BFB81F-A17C-4F8D-B7EA-04088C761D1F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Escopo pequeno, solução coerente, critérios de aceite e reversão definidos.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50C584-179D-424E-8568-C609B9197647}"/>
              </a:ext>
            </a:extLst>
          </p:cNvPr>
          <p:cNvSpPr>
            <a:spLocks noGrp="1"/>
          </p:cNvSpPr>
          <p:nvPr/>
        </p:nvSpPr>
        <p:spPr>
          <a:xfrm>
            <a:off x="713232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EAF7EF"/>
          </a:solidFill>
          <a:ln w="12700">
            <a:solidFill>
              <a:srgbClr val="BBD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EC755B-CCA4-4198-AC1C-2F652C5367D1}"/>
              </a:ext>
            </a:extLst>
          </p:cNvPr>
          <p:cNvSpPr>
            <a:spLocks noGrp="1"/>
          </p:cNvSpPr>
          <p:nvPr/>
        </p:nvSpPr>
        <p:spPr>
          <a:xfrm>
            <a:off x="969264" y="1682496"/>
            <a:ext cx="2468880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27864A"/>
                </a:solidFill>
              </a:rPr>
              <a:t>OCORRÊNCIAS EQUIVALENTES</a:t>
            </a:r>
            <a:endParaRPr sz="14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F2FE71-2DBB-4E5B-8390-FBB14B8AF64B}"/>
              </a:ext>
            </a:extLst>
          </p:cNvPr>
          <p:cNvSpPr>
            <a:spLocks noGrp="1"/>
          </p:cNvSpPr>
          <p:nvPr/>
        </p:nvSpPr>
        <p:spPr>
          <a:xfrm>
            <a:off x="932688" y="2084832"/>
            <a:ext cx="4526280" cy="306324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mesma causa e transformação esperada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API, versão e contexto compatíveis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uma receita pode tratar vários locais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receitas também podem ser compostas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se o risco crescer, dividir o lote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B91906-4433-4A4F-9343-CBC96D2345D0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6E5"/>
          </a:solidFill>
          <a:ln w="12700">
            <a:solidFill>
              <a:srgbClr val="ECD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DB9B1D-C26A-44E0-A7D9-60B95C6FD2C4}"/>
              </a:ext>
            </a:extLst>
          </p:cNvPr>
          <p:cNvSpPr>
            <a:spLocks noGrp="1"/>
          </p:cNvSpPr>
          <p:nvPr/>
        </p:nvSpPr>
        <p:spPr>
          <a:xfrm>
            <a:off x="6492240" y="1682496"/>
            <a:ext cx="2697480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B7791F"/>
                </a:solidFill>
              </a:rPr>
              <a:t>UM PROBLEMA COMPLEXO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089B23-1DD6-4D44-AE31-C48732B94374}"/>
              </a:ext>
            </a:extLst>
          </p:cNvPr>
          <p:cNvSpPr>
            <a:spLocks noGrp="1"/>
          </p:cNvSpPr>
          <p:nvPr/>
        </p:nvSpPr>
        <p:spPr>
          <a:xfrm>
            <a:off x="6455664" y="2084832"/>
            <a:ext cx="4389120" cy="2816352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agente investiga causa e comportamento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avalia receita existente ou personalizada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justifica ajuste específico quando necessário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humano autoriza código/configuração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mesmos testes e controles depois</a:t>
            </a:r>
            <a:endParaRPr sz="15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EF7DC9-88D9-450E-876A-1A3B92F91DBC}"/>
              </a:ext>
            </a:extLst>
          </p:cNvPr>
          <p:cNvSpPr>
            <a:spLocks noGrp="1"/>
          </p:cNvSpPr>
          <p:nvPr/>
        </p:nvSpPr>
        <p:spPr>
          <a:xfrm>
            <a:off x="1225296" y="5541264"/>
            <a:ext cx="9692640" cy="512064"/>
          </a:xfrm>
          <a:prstGeom prst="roundRect">
            <a:avLst>
              <a:gd name="adj" fmla="val 1428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59D4E5-1A43-468E-AADF-213B86373C35}"/>
              </a:ext>
            </a:extLst>
          </p:cNvPr>
          <p:cNvSpPr>
            <a:spLocks noGrp="1"/>
          </p:cNvSpPr>
          <p:nvPr/>
        </p:nvSpPr>
        <p:spPr>
          <a:xfrm>
            <a:off x="1481328" y="5687568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B42318"/>
                </a:solidFill>
              </a:rPr>
              <a:t>Mesma regra MTA não garante mesma correção. O agente justifica o agrupamento e a rota.</a:t>
            </a:r>
            <a:endParaRPr sz="132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924E22D-D13F-44B0-97E2-0C225EFDC59B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F32F01-2E75-47CF-850C-67112888650D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Base: Red Hat MTA (issues/incidentes) e OpenRewrite (receitas). “Lote” é a convenção deste projeto.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FA4187D-D8A3-4CE4-83B3-432A24F234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8098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2E261F-4187-44D9-8317-5C41E47FFD30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71"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Fluxo por lote: diagnóstico, solução e comprovação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09FF55-D3F1-4446-A5CC-9E47DD08EF64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O agente agrupa ocorrências e propõe a rota. O desenvolvedor revisa e decide.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5109E4-432D-4853-95AE-5575912F2876}"/>
              </a:ext>
            </a:extLst>
          </p:cNvPr>
          <p:cNvSpPr>
            <a:spLocks noGrp="1"/>
          </p:cNvSpPr>
          <p:nvPr/>
        </p:nvSpPr>
        <p:spPr>
          <a:xfrm>
            <a:off x="502920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48657C-8C56-406A-8F56-55FFE63EED27}"/>
              </a:ext>
            </a:extLst>
          </p:cNvPr>
          <p:cNvSpPr>
            <a:spLocks noGrp="1"/>
          </p:cNvSpPr>
          <p:nvPr/>
        </p:nvSpPr>
        <p:spPr>
          <a:xfrm>
            <a:off x="859536" y="2075688"/>
            <a:ext cx="429768" cy="4297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E695CD-085A-4177-9BA2-B52E0A76D525}"/>
              </a:ext>
            </a:extLst>
          </p:cNvPr>
          <p:cNvSpPr>
            <a:spLocks noGrp="1"/>
          </p:cNvSpPr>
          <p:nvPr/>
        </p:nvSpPr>
        <p:spPr>
          <a:xfrm>
            <a:off x="859536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CBEF51-1B3D-4D73-A1EC-C14D6D9B8BC4}"/>
              </a:ext>
            </a:extLst>
          </p:cNvPr>
          <p:cNvSpPr>
            <a:spLocks noGrp="1"/>
          </p:cNvSpPr>
          <p:nvPr/>
        </p:nvSpPr>
        <p:spPr>
          <a:xfrm>
            <a:off x="576072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Base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Java 8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E024B5-8D2A-406A-8FCC-9306E908DE00}"/>
              </a:ext>
            </a:extLst>
          </p:cNvPr>
          <p:cNvSpPr>
            <a:spLocks noGrp="1"/>
          </p:cNvSpPr>
          <p:nvPr/>
        </p:nvSpPr>
        <p:spPr>
          <a:xfrm>
            <a:off x="1664208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8FC4363-67AA-4AEC-8FC4-15AC2714C0A3}"/>
              </a:ext>
            </a:extLst>
          </p:cNvPr>
          <p:cNvSpPr>
            <a:spLocks noGrp="1"/>
          </p:cNvSpPr>
          <p:nvPr/>
        </p:nvSpPr>
        <p:spPr>
          <a:xfrm>
            <a:off x="1773936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C9D3EC-9EF0-424B-AD88-C3B55F109223}"/>
              </a:ext>
            </a:extLst>
          </p:cNvPr>
          <p:cNvSpPr>
            <a:spLocks noGrp="1"/>
          </p:cNvSpPr>
          <p:nvPr/>
        </p:nvSpPr>
        <p:spPr>
          <a:xfrm>
            <a:off x="2130552" y="2075688"/>
            <a:ext cx="429768" cy="42976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B72395-6EEC-4BE6-98ED-3FFC93C74771}"/>
              </a:ext>
            </a:extLst>
          </p:cNvPr>
          <p:cNvSpPr>
            <a:spLocks noGrp="1"/>
          </p:cNvSpPr>
          <p:nvPr/>
        </p:nvSpPr>
        <p:spPr>
          <a:xfrm>
            <a:off x="2130552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94C60B6-4723-4E5C-8925-63C710825051}"/>
              </a:ext>
            </a:extLst>
          </p:cNvPr>
          <p:cNvSpPr>
            <a:spLocks noGrp="1"/>
          </p:cNvSpPr>
          <p:nvPr/>
        </p:nvSpPr>
        <p:spPr>
          <a:xfrm>
            <a:off x="1847088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375"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MTA + deps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Sonar ANTES</a:t>
            </a:r>
            <a:endParaRPr sz="12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AE997FE-3768-47E3-B557-E703F3CBE757}"/>
              </a:ext>
            </a:extLst>
          </p:cNvPr>
          <p:cNvSpPr>
            <a:spLocks noGrp="1"/>
          </p:cNvSpPr>
          <p:nvPr/>
        </p:nvSpPr>
        <p:spPr>
          <a:xfrm>
            <a:off x="2935224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3BEA3EE-2527-45F3-A460-D0D24370B810}"/>
              </a:ext>
            </a:extLst>
          </p:cNvPr>
          <p:cNvSpPr>
            <a:spLocks noGrp="1"/>
          </p:cNvSpPr>
          <p:nvPr/>
        </p:nvSpPr>
        <p:spPr>
          <a:xfrm>
            <a:off x="3044952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16B2B2B-E5BE-48D4-B5F5-6139E8E604BA}"/>
              </a:ext>
            </a:extLst>
          </p:cNvPr>
          <p:cNvSpPr>
            <a:spLocks noGrp="1"/>
          </p:cNvSpPr>
          <p:nvPr/>
        </p:nvSpPr>
        <p:spPr>
          <a:xfrm>
            <a:off x="3401568" y="2075688"/>
            <a:ext cx="429768" cy="42976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32DF963-4616-4C0A-B705-F474849A6819}"/>
              </a:ext>
            </a:extLst>
          </p:cNvPr>
          <p:cNvSpPr>
            <a:spLocks noGrp="1"/>
          </p:cNvSpPr>
          <p:nvPr/>
        </p:nvSpPr>
        <p:spPr>
          <a:xfrm>
            <a:off x="3401568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3</a:t>
            </a:r>
            <a:endParaRPr sz="10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5729D6-A52C-4185-9814-AADBC64581C1}"/>
              </a:ext>
            </a:extLst>
          </p:cNvPr>
          <p:cNvSpPr>
            <a:spLocks noGrp="1"/>
          </p:cNvSpPr>
          <p:nvPr/>
        </p:nvSpPr>
        <p:spPr>
          <a:xfrm>
            <a:off x="3118104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183"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Agente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triagem + lote</a:t>
            </a:r>
            <a:endParaRPr sz="12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6CCA45-DD5C-4609-B797-D5EC05923CF6}"/>
              </a:ext>
            </a:extLst>
          </p:cNvPr>
          <p:cNvSpPr>
            <a:spLocks noGrp="1"/>
          </p:cNvSpPr>
          <p:nvPr/>
        </p:nvSpPr>
        <p:spPr>
          <a:xfrm>
            <a:off x="4206240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2F4EA8F-B7DA-481F-9B94-4137BD41B65B}"/>
              </a:ext>
            </a:extLst>
          </p:cNvPr>
          <p:cNvSpPr>
            <a:spLocks noGrp="1"/>
          </p:cNvSpPr>
          <p:nvPr/>
        </p:nvSpPr>
        <p:spPr>
          <a:xfrm>
            <a:off x="4315968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3B2B9DB-89CF-4DDD-BB6C-0B1056CA7642}"/>
              </a:ext>
            </a:extLst>
          </p:cNvPr>
          <p:cNvSpPr>
            <a:spLocks noGrp="1"/>
          </p:cNvSpPr>
          <p:nvPr/>
        </p:nvSpPr>
        <p:spPr>
          <a:xfrm>
            <a:off x="4672584" y="2075688"/>
            <a:ext cx="429768" cy="4297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542DDA-A03C-41AE-A227-5D6394513F8D}"/>
              </a:ext>
            </a:extLst>
          </p:cNvPr>
          <p:cNvSpPr>
            <a:spLocks noGrp="1"/>
          </p:cNvSpPr>
          <p:nvPr/>
        </p:nvSpPr>
        <p:spPr>
          <a:xfrm>
            <a:off x="4672584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49F675E-E3D2-4AF1-8602-01618E09636B}"/>
              </a:ext>
            </a:extLst>
          </p:cNvPr>
          <p:cNvSpPr>
            <a:spLocks noGrp="1"/>
          </p:cNvSpPr>
          <p:nvPr/>
        </p:nvSpPr>
        <p:spPr>
          <a:xfrm>
            <a:off x="4389120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Solução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+ teste</a:t>
            </a:r>
            <a:endParaRPr sz="12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1F2C713-C40F-483A-8CA3-9F6F39C859BC}"/>
              </a:ext>
            </a:extLst>
          </p:cNvPr>
          <p:cNvSpPr>
            <a:spLocks noGrp="1"/>
          </p:cNvSpPr>
          <p:nvPr/>
        </p:nvSpPr>
        <p:spPr>
          <a:xfrm>
            <a:off x="5477256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C3B9467-8BED-4B42-9D2F-EC7C68E417A6}"/>
              </a:ext>
            </a:extLst>
          </p:cNvPr>
          <p:cNvSpPr>
            <a:spLocks noGrp="1"/>
          </p:cNvSpPr>
          <p:nvPr/>
        </p:nvSpPr>
        <p:spPr>
          <a:xfrm>
            <a:off x="5586984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C6D760F-2F1B-46E3-926B-2F5D06D3ACEA}"/>
              </a:ext>
            </a:extLst>
          </p:cNvPr>
          <p:cNvSpPr>
            <a:spLocks noGrp="1"/>
          </p:cNvSpPr>
          <p:nvPr/>
        </p:nvSpPr>
        <p:spPr>
          <a:xfrm>
            <a:off x="5943600" y="2075688"/>
            <a:ext cx="429768" cy="4297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DD6FF87-5DC8-4CC9-96F3-4C670FC947B4}"/>
              </a:ext>
            </a:extLst>
          </p:cNvPr>
          <p:cNvSpPr>
            <a:spLocks noGrp="1"/>
          </p:cNvSpPr>
          <p:nvPr/>
        </p:nvSpPr>
        <p:spPr>
          <a:xfrm>
            <a:off x="5943600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5</a:t>
            </a:r>
            <a:endParaRPr sz="10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A88FFBB-17C2-4C72-8BF8-8D9CEBDEC7F6}"/>
              </a:ext>
            </a:extLst>
          </p:cNvPr>
          <p:cNvSpPr>
            <a:spLocks noGrp="1"/>
          </p:cNvSpPr>
          <p:nvPr/>
        </p:nvSpPr>
        <p:spPr>
          <a:xfrm>
            <a:off x="5660136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Patch/diff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revisável</a:t>
            </a:r>
            <a:endParaRPr sz="12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CCF86C9-13B6-4A28-A55B-CF6320A0158F}"/>
              </a:ext>
            </a:extLst>
          </p:cNvPr>
          <p:cNvSpPr>
            <a:spLocks noGrp="1"/>
          </p:cNvSpPr>
          <p:nvPr/>
        </p:nvSpPr>
        <p:spPr>
          <a:xfrm>
            <a:off x="6748272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051A3DC-2DFA-418C-9305-87F25B4C9042}"/>
              </a:ext>
            </a:extLst>
          </p:cNvPr>
          <p:cNvSpPr>
            <a:spLocks noGrp="1"/>
          </p:cNvSpPr>
          <p:nvPr/>
        </p:nvSpPr>
        <p:spPr>
          <a:xfrm>
            <a:off x="6858000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9A31E52-2AE3-49B6-84B1-A4A2B2036EFB}"/>
              </a:ext>
            </a:extLst>
          </p:cNvPr>
          <p:cNvSpPr>
            <a:spLocks noGrp="1"/>
          </p:cNvSpPr>
          <p:nvPr/>
        </p:nvSpPr>
        <p:spPr>
          <a:xfrm>
            <a:off x="7214616" y="2075688"/>
            <a:ext cx="429768" cy="42976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EDAEDA3-3C7C-466F-8A09-E0A0BDE5A40B}"/>
              </a:ext>
            </a:extLst>
          </p:cNvPr>
          <p:cNvSpPr>
            <a:spLocks noGrp="1"/>
          </p:cNvSpPr>
          <p:nvPr/>
        </p:nvSpPr>
        <p:spPr>
          <a:xfrm>
            <a:off x="7214616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2B6B05B-7BC4-4E50-B2EE-4B82319931A8}"/>
              </a:ext>
            </a:extLst>
          </p:cNvPr>
          <p:cNvSpPr>
            <a:spLocks noGrp="1"/>
          </p:cNvSpPr>
          <p:nvPr/>
        </p:nvSpPr>
        <p:spPr>
          <a:xfrm>
            <a:off x="6931152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Revisão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+ GO</a:t>
            </a:r>
            <a:endParaRPr sz="125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3B9E290-93B7-4919-A125-53199135974E}"/>
              </a:ext>
            </a:extLst>
          </p:cNvPr>
          <p:cNvSpPr>
            <a:spLocks noGrp="1"/>
          </p:cNvSpPr>
          <p:nvPr/>
        </p:nvSpPr>
        <p:spPr>
          <a:xfrm>
            <a:off x="8019288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B01C7E2-B6A3-4450-8939-65074E495834}"/>
              </a:ext>
            </a:extLst>
          </p:cNvPr>
          <p:cNvSpPr>
            <a:spLocks noGrp="1"/>
          </p:cNvSpPr>
          <p:nvPr/>
        </p:nvSpPr>
        <p:spPr>
          <a:xfrm>
            <a:off x="8129016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A6B45B0-7FE4-4D41-8F69-5C4A4C79CB91}"/>
              </a:ext>
            </a:extLst>
          </p:cNvPr>
          <p:cNvSpPr>
            <a:spLocks noGrp="1"/>
          </p:cNvSpPr>
          <p:nvPr/>
        </p:nvSpPr>
        <p:spPr>
          <a:xfrm>
            <a:off x="8485632" y="2075688"/>
            <a:ext cx="429768" cy="42976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0B3B514-7152-4ABD-8D4E-2B28A027DC5C}"/>
              </a:ext>
            </a:extLst>
          </p:cNvPr>
          <p:cNvSpPr>
            <a:spLocks noGrp="1"/>
          </p:cNvSpPr>
          <p:nvPr/>
        </p:nvSpPr>
        <p:spPr>
          <a:xfrm>
            <a:off x="8485632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7</a:t>
            </a:r>
            <a:endParaRPr sz="105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FC55A46-7A43-45A1-BD20-B191F39AC0C6}"/>
              </a:ext>
            </a:extLst>
          </p:cNvPr>
          <p:cNvSpPr>
            <a:spLocks noGrp="1"/>
          </p:cNvSpPr>
          <p:nvPr/>
        </p:nvSpPr>
        <p:spPr>
          <a:xfrm>
            <a:off x="8202168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Aplicação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autorizada</a:t>
            </a:r>
            <a:endParaRPr sz="12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ABAA49-93CD-45E6-85D6-925D0F38104A}"/>
              </a:ext>
            </a:extLst>
          </p:cNvPr>
          <p:cNvSpPr>
            <a:spLocks noGrp="1"/>
          </p:cNvSpPr>
          <p:nvPr/>
        </p:nvSpPr>
        <p:spPr>
          <a:xfrm>
            <a:off x="9290304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86B52AF-4F5A-4004-AC89-E343141846A1}"/>
              </a:ext>
            </a:extLst>
          </p:cNvPr>
          <p:cNvSpPr>
            <a:spLocks noGrp="1"/>
          </p:cNvSpPr>
          <p:nvPr/>
        </p:nvSpPr>
        <p:spPr>
          <a:xfrm>
            <a:off x="9400032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52D59C7-3AFF-4F04-AD2F-0B8F0AC77D9F}"/>
              </a:ext>
            </a:extLst>
          </p:cNvPr>
          <p:cNvSpPr>
            <a:spLocks noGrp="1"/>
          </p:cNvSpPr>
          <p:nvPr/>
        </p:nvSpPr>
        <p:spPr>
          <a:xfrm>
            <a:off x="9756648" y="2075688"/>
            <a:ext cx="429768" cy="4297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58218CB-3AC0-46EA-BAB5-BD22B4E5C502}"/>
              </a:ext>
            </a:extLst>
          </p:cNvPr>
          <p:cNvSpPr>
            <a:spLocks noGrp="1"/>
          </p:cNvSpPr>
          <p:nvPr/>
        </p:nvSpPr>
        <p:spPr>
          <a:xfrm>
            <a:off x="9756648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8</a:t>
            </a:r>
            <a:endParaRPr sz="105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CB2BC60-BDAC-4E01-8B6C-3F4F372C5F9E}"/>
              </a:ext>
            </a:extLst>
          </p:cNvPr>
          <p:cNvSpPr>
            <a:spLocks noGrp="1"/>
          </p:cNvSpPr>
          <p:nvPr/>
        </p:nvSpPr>
        <p:spPr>
          <a:xfrm>
            <a:off x="9473184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843"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Testes + MTA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Sonar DEPOIS</a:t>
            </a:r>
            <a:endParaRPr sz="125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5B76801-A4FC-48B1-921B-F741830A63C1}"/>
              </a:ext>
            </a:extLst>
          </p:cNvPr>
          <p:cNvSpPr>
            <a:spLocks noGrp="1"/>
          </p:cNvSpPr>
          <p:nvPr/>
        </p:nvSpPr>
        <p:spPr>
          <a:xfrm>
            <a:off x="10561320" y="2441448"/>
            <a:ext cx="128016" cy="256032"/>
          </a:xfrm>
          <a:prstGeom prst="chevron">
            <a:avLst/>
          </a:prstGeom>
          <a:solidFill>
            <a:srgbClr val="B9C4D0"/>
          </a:solidFill>
          <a:ln w="12700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AFEAD3E-0358-449E-8D54-376FD72AAD47}"/>
              </a:ext>
            </a:extLst>
          </p:cNvPr>
          <p:cNvSpPr>
            <a:spLocks noGrp="1"/>
          </p:cNvSpPr>
          <p:nvPr/>
        </p:nvSpPr>
        <p:spPr>
          <a:xfrm>
            <a:off x="10671048" y="1874520"/>
            <a:ext cx="1143000" cy="1481328"/>
          </a:xfrm>
          <a:prstGeom prst="roundRect">
            <a:avLst>
              <a:gd name="adj" fmla="val 64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32EF74D-3D35-44AF-A9A8-768161154C0B}"/>
              </a:ext>
            </a:extLst>
          </p:cNvPr>
          <p:cNvSpPr>
            <a:spLocks noGrp="1"/>
          </p:cNvSpPr>
          <p:nvPr/>
        </p:nvSpPr>
        <p:spPr>
          <a:xfrm>
            <a:off x="11027664" y="2075688"/>
            <a:ext cx="429768" cy="429768"/>
          </a:xfrm>
          <a:prstGeom prst="ellipse">
            <a:avLst/>
          </a:prstGeom>
          <a:solidFill>
            <a:srgbClr val="27864A"/>
          </a:solidFill>
          <a:ln w="12700">
            <a:solidFill>
              <a:srgbClr val="2786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FACCDD5-320C-45FB-8A8C-8A95C49338F1}"/>
              </a:ext>
            </a:extLst>
          </p:cNvPr>
          <p:cNvSpPr>
            <a:spLocks noGrp="1"/>
          </p:cNvSpPr>
          <p:nvPr/>
        </p:nvSpPr>
        <p:spPr>
          <a:xfrm>
            <a:off x="11027664" y="2162556"/>
            <a:ext cx="4297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9</a:t>
            </a:r>
            <a:endParaRPr sz="105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8030574-7A66-4D5C-B778-487433812B2F}"/>
              </a:ext>
            </a:extLst>
          </p:cNvPr>
          <p:cNvSpPr>
            <a:spLocks noGrp="1"/>
          </p:cNvSpPr>
          <p:nvPr/>
        </p:nvSpPr>
        <p:spPr>
          <a:xfrm>
            <a:off x="10744200" y="2642616"/>
            <a:ext cx="99669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EAPs</a:t>
            </a:r>
            <a:endParaRPr sz="1250"/>
          </a:p>
          <a:p>
            <a:pPr marL="0" indent="0" algn="ctr">
              <a:buNone/>
            </a:pPr>
            <a:r>
              <a:rPr sz="1250" b="1">
                <a:solidFill>
                  <a:srgbClr val="243447"/>
                </a:solidFill>
              </a:rPr>
              <a:t>+ decisão</a:t>
            </a:r>
            <a:endParaRPr sz="125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9C38E85-EFC1-4A82-AC8B-6C26AC835372}"/>
              </a:ext>
            </a:extLst>
          </p:cNvPr>
          <p:cNvSpPr>
            <a:spLocks noGrp="1"/>
          </p:cNvSpPr>
          <p:nvPr/>
        </p:nvSpPr>
        <p:spPr>
          <a:xfrm>
            <a:off x="804672" y="4005072"/>
            <a:ext cx="10561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C3ED42C-C70A-4308-B423-B06D02E7D6EA}"/>
              </a:ext>
            </a:extLst>
          </p:cNvPr>
          <p:cNvSpPr>
            <a:spLocks noGrp="1"/>
          </p:cNvSpPr>
          <p:nvPr/>
        </p:nvSpPr>
        <p:spPr>
          <a:xfrm>
            <a:off x="1060704" y="4279392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7324D"/>
                </a:solidFill>
              </a:rPr>
              <a:t>VS Code: central de operações</a:t>
            </a:r>
            <a:endParaRPr sz="135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C91B6F9-8BCF-4ED8-A66B-7101D2C6C917}"/>
              </a:ext>
            </a:extLst>
          </p:cNvPr>
          <p:cNvSpPr>
            <a:spLocks noGrp="1"/>
          </p:cNvSpPr>
          <p:nvPr/>
        </p:nvSpPr>
        <p:spPr>
          <a:xfrm>
            <a:off x="2606040" y="4242816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812"/>
          </a:bodyPr>
          <a:lstStyle/>
          <a:p>
            <a:pPr marL="0" indent="0">
              <a:buNone/>
            </a:pPr>
            <a:r>
              <a:rPr sz="1620" b="1">
                <a:solidFill>
                  <a:srgbClr val="243447"/>
                </a:solidFill>
              </a:rPr>
              <a:t>Run Task aciona scripts. O desenvolvedor acompanha evidências e decide com o agente.</a:t>
            </a:r>
            <a:endParaRPr sz="162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6B9B6E41-E845-45FD-93B5-13B37704C8F3}"/>
              </a:ext>
            </a:extLst>
          </p:cNvPr>
          <p:cNvSpPr>
            <a:spLocks noGrp="1"/>
          </p:cNvSpPr>
          <p:nvPr/>
        </p:nvSpPr>
        <p:spPr>
          <a:xfrm>
            <a:off x="3364992" y="5321808"/>
            <a:ext cx="3611880" cy="320040"/>
          </a:xfrm>
          <a:prstGeom prst="roundRect">
            <a:avLst>
              <a:gd name="adj" fmla="val 22857"/>
            </a:avLst>
          </a:prstGeom>
          <a:solidFill>
            <a:srgbClr val="EDF1F5"/>
          </a:solidFill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B2B0198-415A-4856-8C25-5ACDE70139DB}"/>
              </a:ext>
            </a:extLst>
          </p:cNvPr>
          <p:cNvSpPr>
            <a:spLocks noGrp="1"/>
          </p:cNvSpPr>
          <p:nvPr/>
        </p:nvSpPr>
        <p:spPr>
          <a:xfrm>
            <a:off x="3438144" y="5381244"/>
            <a:ext cx="34655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43447"/>
                </a:solidFill>
              </a:rPr>
              <a:t>Receita: dryRun e run. Ajuste: diff revisado.</a:t>
            </a:r>
            <a:endParaRPr sz="105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7BF34B14-DD7F-4E7C-8E52-EC34B1C936B4}"/>
              </a:ext>
            </a:extLst>
          </p:cNvPr>
          <p:cNvSpPr>
            <a:spLocks noGrp="1"/>
          </p:cNvSpPr>
          <p:nvPr/>
        </p:nvSpPr>
        <p:spPr>
          <a:xfrm>
            <a:off x="7315200" y="532180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FA6970C-B6E2-43F2-A4CC-A45DEA209CAA}"/>
              </a:ext>
            </a:extLst>
          </p:cNvPr>
          <p:cNvSpPr>
            <a:spLocks noGrp="1"/>
          </p:cNvSpPr>
          <p:nvPr/>
        </p:nvSpPr>
        <p:spPr>
          <a:xfrm>
            <a:off x="7388352" y="5381244"/>
            <a:ext cx="23225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832"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B7791F"/>
                </a:solidFill>
              </a:rPr>
              <a:t>EAP Start/Stop/Deploy em implementação</a:t>
            </a:r>
            <a:endParaRPr sz="105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32C8165-1CB9-4E10-AAC8-DB872EFF75E5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4FDDB39-1A17-4C0B-8327-E9F3719D53FE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Base: MTA — issues/incidentes; OpenRewrite — receitas. Lote é uma convenção do projeto.</a:t>
            </a:r>
            <a:endParaRPr sz="880"/>
          </a:p>
        </p:txBody>
      </p:sp>
      <p:sp>
        <p:nvSpPr>
          <p:cNvPr id="57" name="Slide Number Placeholder 0">
            <a:extLst>
              <a:ext uri="{FF2B5EF4-FFF2-40B4-BE49-F238E27FC236}">
                <a16:creationId xmlns:a16="http://schemas.microsoft.com/office/drawing/2014/main" id="{CEF851F3-CC0F-4D3B-8ED8-42632D45768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46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10AC95-652A-41A5-9C9B-98CA2046B292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Cada evidência responde a uma pergunta diferente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F3F6EA-21EB-4E0C-8E49-A79A56017141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“Verde” em uma ferramenta não equivale a migração concluída.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6B6F77-15C8-4F27-BDD1-3A1E98EEF193}"/>
              </a:ext>
            </a:extLst>
          </p:cNvPr>
          <p:cNvSpPr>
            <a:spLocks noGrp="1"/>
          </p:cNvSpPr>
          <p:nvPr/>
        </p:nvSpPr>
        <p:spPr>
          <a:xfrm>
            <a:off x="65836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B62517-3DC5-4B33-9E78-F370D15F2547}"/>
              </a:ext>
            </a:extLst>
          </p:cNvPr>
          <p:cNvSpPr>
            <a:spLocks noGrp="1"/>
          </p:cNvSpPr>
          <p:nvPr/>
        </p:nvSpPr>
        <p:spPr>
          <a:xfrm>
            <a:off x="82296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0F766E"/>
                </a:solidFill>
              </a:rPr>
              <a:t>MTA</a:t>
            </a:r>
            <a:endParaRPr sz="1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C05D43-177B-413E-B2CA-010370221DE3}"/>
              </a:ext>
            </a:extLst>
          </p:cNvPr>
          <p:cNvSpPr>
            <a:spLocks noGrp="1"/>
          </p:cNvSpPr>
          <p:nvPr/>
        </p:nvSpPr>
        <p:spPr>
          <a:xfrm>
            <a:off x="84124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Onde pode existir incompatibilidade?</a:t>
            </a:r>
            <a:endParaRPr sz="154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47F933-5230-4965-9B0F-4F7B6EE7E418}"/>
              </a:ext>
            </a:extLst>
          </p:cNvPr>
          <p:cNvSpPr>
            <a:spLocks noGrp="1"/>
          </p:cNvSpPr>
          <p:nvPr/>
        </p:nvSpPr>
        <p:spPr>
          <a:xfrm>
            <a:off x="85953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Achado precisa de triagem humana.</a:t>
            </a:r>
            <a:endParaRPr sz="118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D5A0FD8-6C87-4A55-80C8-F058CEE5B73D}"/>
              </a:ext>
            </a:extLst>
          </p:cNvPr>
          <p:cNvSpPr>
            <a:spLocks noGrp="1"/>
          </p:cNvSpPr>
          <p:nvPr/>
        </p:nvSpPr>
        <p:spPr>
          <a:xfrm>
            <a:off x="349300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934A33-D89A-4160-B2B1-4EB826C72FA8}"/>
              </a:ext>
            </a:extLst>
          </p:cNvPr>
          <p:cNvSpPr>
            <a:spLocks noGrp="1"/>
          </p:cNvSpPr>
          <p:nvPr/>
        </p:nvSpPr>
        <p:spPr>
          <a:xfrm>
            <a:off x="365760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17324D"/>
                </a:solidFill>
              </a:rPr>
              <a:t>Testes Java 8</a:t>
            </a:r>
            <a:endParaRPr sz="1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45BCAA-BFC4-47BB-8EF2-55CAFCD546FC}"/>
              </a:ext>
            </a:extLst>
          </p:cNvPr>
          <p:cNvSpPr>
            <a:spLocks noGrp="1"/>
          </p:cNvSpPr>
          <p:nvPr/>
        </p:nvSpPr>
        <p:spPr>
          <a:xfrm>
            <a:off x="367588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O comportamento coberto continua correto?</a:t>
            </a:r>
            <a:endParaRPr sz="154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096B0A-255D-4044-B85C-F58C2F1DEF20}"/>
              </a:ext>
            </a:extLst>
          </p:cNvPr>
          <p:cNvSpPr>
            <a:spLocks noGrp="1"/>
          </p:cNvSpPr>
          <p:nvPr/>
        </p:nvSpPr>
        <p:spPr>
          <a:xfrm>
            <a:off x="369417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Também produzem o artefato.</a:t>
            </a:r>
            <a:endParaRPr sz="11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91A8EB-CB2A-44DB-8EF4-DD54FCEE8258}"/>
              </a:ext>
            </a:extLst>
          </p:cNvPr>
          <p:cNvSpPr>
            <a:spLocks noGrp="1"/>
          </p:cNvSpPr>
          <p:nvPr/>
        </p:nvSpPr>
        <p:spPr>
          <a:xfrm>
            <a:off x="632764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134D23-C102-404A-B084-A2EB54F70001}"/>
              </a:ext>
            </a:extLst>
          </p:cNvPr>
          <p:cNvSpPr>
            <a:spLocks noGrp="1"/>
          </p:cNvSpPr>
          <p:nvPr/>
        </p:nvSpPr>
        <p:spPr>
          <a:xfrm>
            <a:off x="649224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F6FEB"/>
                </a:solidFill>
              </a:rPr>
              <a:t>Sonar</a:t>
            </a:r>
            <a:endParaRPr sz="1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3FA80D-E014-4C03-8DB5-3E1E48FF533E}"/>
              </a:ext>
            </a:extLst>
          </p:cNvPr>
          <p:cNvSpPr>
            <a:spLocks noGrp="1"/>
          </p:cNvSpPr>
          <p:nvPr/>
        </p:nvSpPr>
        <p:spPr>
          <a:xfrm>
            <a:off x="651052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A qualidade piorou ou surgiram issues?</a:t>
            </a:r>
            <a:endParaRPr sz="154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19D54C-B52B-4C1A-B806-6CC717C47B47}"/>
              </a:ext>
            </a:extLst>
          </p:cNvPr>
          <p:cNvSpPr>
            <a:spLocks noGrp="1"/>
          </p:cNvSpPr>
          <p:nvPr/>
        </p:nvSpPr>
        <p:spPr>
          <a:xfrm>
            <a:off x="652881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Comparação antes/depois.</a:t>
            </a:r>
            <a:endParaRPr sz="118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8946801-B605-4A9F-8A3B-7A2CDBAE7699}"/>
              </a:ext>
            </a:extLst>
          </p:cNvPr>
          <p:cNvSpPr>
            <a:spLocks noGrp="1"/>
          </p:cNvSpPr>
          <p:nvPr/>
        </p:nvSpPr>
        <p:spPr>
          <a:xfrm>
            <a:off x="9162288" y="1444752"/>
            <a:ext cx="2395728" cy="2834640"/>
          </a:xfrm>
          <a:prstGeom prst="roundRect">
            <a:avLst>
              <a:gd name="adj" fmla="val 3053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AA3880-E8CB-4E2F-94E5-E4118C7D32E2}"/>
              </a:ext>
            </a:extLst>
          </p:cNvPr>
          <p:cNvSpPr>
            <a:spLocks noGrp="1"/>
          </p:cNvSpPr>
          <p:nvPr/>
        </p:nvSpPr>
        <p:spPr>
          <a:xfrm>
            <a:off x="9326880" y="17007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7864A"/>
                </a:solidFill>
              </a:rPr>
              <a:t>EAP 7.1 / 7.4</a:t>
            </a:r>
            <a:endParaRPr sz="17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014FBF-5128-4B07-9B05-1AF247323827}"/>
              </a:ext>
            </a:extLst>
          </p:cNvPr>
          <p:cNvSpPr>
            <a:spLocks noGrp="1"/>
          </p:cNvSpPr>
          <p:nvPr/>
        </p:nvSpPr>
        <p:spPr>
          <a:xfrm>
            <a:off x="9345168" y="2249424"/>
            <a:ext cx="2029968" cy="859536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540" b="1">
                <a:solidFill>
                  <a:srgbClr val="243447"/>
                </a:solidFill>
              </a:rPr>
              <a:t>O mesmo artefato roda nos dois runtimes?</a:t>
            </a:r>
            <a:endParaRPr sz="154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D3B3F81-5281-43DF-A12E-8BF674851299}"/>
              </a:ext>
            </a:extLst>
          </p:cNvPr>
          <p:cNvSpPr>
            <a:spLocks noGrp="1"/>
          </p:cNvSpPr>
          <p:nvPr/>
        </p:nvSpPr>
        <p:spPr>
          <a:xfrm>
            <a:off x="9363456" y="3401568"/>
            <a:ext cx="199339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80">
                <a:solidFill>
                  <a:srgbClr val="607086"/>
                </a:solidFill>
              </a:rPr>
              <a:t>Runtime + cenário funcional.</a:t>
            </a:r>
            <a:endParaRPr sz="118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AF6BD4-8F6F-401C-AEB6-CD76E5053D8A}"/>
              </a:ext>
            </a:extLst>
          </p:cNvPr>
          <p:cNvSpPr>
            <a:spLocks noGrp="1"/>
          </p:cNvSpPr>
          <p:nvPr/>
        </p:nvSpPr>
        <p:spPr>
          <a:xfrm>
            <a:off x="658368" y="4599432"/>
            <a:ext cx="10899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FED342-E770-4E27-93A2-2EEE777716F5}"/>
              </a:ext>
            </a:extLst>
          </p:cNvPr>
          <p:cNvSpPr>
            <a:spLocks noGrp="1"/>
          </p:cNvSpPr>
          <p:nvPr/>
        </p:nvSpPr>
        <p:spPr>
          <a:xfrm>
            <a:off x="896112" y="48646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7324D"/>
                </a:solidFill>
              </a:rPr>
              <a:t>Checkpoint do harness</a:t>
            </a:r>
            <a:endParaRPr sz="13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6BDB677-DF3A-4C24-AD73-4CB1BE11E56B}"/>
              </a:ext>
            </a:extLst>
          </p:cNvPr>
          <p:cNvSpPr>
            <a:spLocks noGrp="1"/>
          </p:cNvSpPr>
          <p:nvPr/>
        </p:nvSpPr>
        <p:spPr>
          <a:xfrm>
            <a:off x="2651760" y="4828032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9D7AAF-CAE4-457D-AC08-647A34BB3D92}"/>
              </a:ext>
            </a:extLst>
          </p:cNvPr>
          <p:cNvSpPr>
            <a:spLocks noGrp="1"/>
          </p:cNvSpPr>
          <p:nvPr/>
        </p:nvSpPr>
        <p:spPr>
          <a:xfrm>
            <a:off x="2724912" y="4887468"/>
            <a:ext cx="14996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B42318"/>
                </a:solidFill>
              </a:rPr>
              <a:t>0 issue nova</a:t>
            </a:r>
            <a:endParaRPr sz="10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B7D5BBD-48AE-4F75-B7F0-18BD8AC818C3}"/>
              </a:ext>
            </a:extLst>
          </p:cNvPr>
          <p:cNvSpPr>
            <a:spLocks noGrp="1"/>
          </p:cNvSpPr>
          <p:nvPr/>
        </p:nvSpPr>
        <p:spPr>
          <a:xfrm>
            <a:off x="4709160" y="4828032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615B981-1DF8-419C-A3FE-81DAE24F2117}"/>
              </a:ext>
            </a:extLst>
          </p:cNvPr>
          <p:cNvSpPr>
            <a:spLocks noGrp="1"/>
          </p:cNvSpPr>
          <p:nvPr/>
        </p:nvSpPr>
        <p:spPr>
          <a:xfrm>
            <a:off x="4782312" y="4887468"/>
            <a:ext cx="232257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B42318"/>
                </a:solidFill>
              </a:rPr>
              <a:t>0 HIGH / BLOCKER / CRITICAL</a:t>
            </a:r>
            <a:endParaRPr sz="10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3D473B5-A227-4A91-B7AA-A3DDE2274855}"/>
              </a:ext>
            </a:extLst>
          </p:cNvPr>
          <p:cNvSpPr>
            <a:spLocks noGrp="1"/>
          </p:cNvSpPr>
          <p:nvPr/>
        </p:nvSpPr>
        <p:spPr>
          <a:xfrm>
            <a:off x="7543800" y="4828032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44E1DB0-0FBE-4AE5-9E3C-D69CF6FB95BD}"/>
              </a:ext>
            </a:extLst>
          </p:cNvPr>
          <p:cNvSpPr>
            <a:spLocks noGrp="1"/>
          </p:cNvSpPr>
          <p:nvPr/>
        </p:nvSpPr>
        <p:spPr>
          <a:xfrm>
            <a:off x="7616952" y="4887468"/>
            <a:ext cx="149961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6FEB"/>
                </a:solidFill>
              </a:rPr>
              <a:t>cobertura ≥ 85%</a:t>
            </a:r>
            <a:endParaRPr sz="10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0ECA6A8-7F1C-461A-8BB1-7EE467E82257}"/>
              </a:ext>
            </a:extLst>
          </p:cNvPr>
          <p:cNvSpPr>
            <a:spLocks noGrp="1"/>
          </p:cNvSpPr>
          <p:nvPr/>
        </p:nvSpPr>
        <p:spPr>
          <a:xfrm>
            <a:off x="9555480" y="48280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0E7924F-F37A-435D-A633-500CF1BF980F}"/>
              </a:ext>
            </a:extLst>
          </p:cNvPr>
          <p:cNvSpPr>
            <a:spLocks noGrp="1"/>
          </p:cNvSpPr>
          <p:nvPr/>
        </p:nvSpPr>
        <p:spPr>
          <a:xfrm>
            <a:off x="9628632" y="4887468"/>
            <a:ext cx="145389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2F6FEB"/>
                </a:solidFill>
              </a:rPr>
              <a:t>duplicação ≤ 5%</a:t>
            </a:r>
            <a:endParaRPr sz="10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2B4D25E-E549-40CF-87D8-DD2C41CFEC33}"/>
              </a:ext>
            </a:extLst>
          </p:cNvPr>
          <p:cNvSpPr>
            <a:spLocks noGrp="1"/>
          </p:cNvSpPr>
          <p:nvPr/>
        </p:nvSpPr>
        <p:spPr>
          <a:xfrm>
            <a:off x="3794760" y="5833872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607086"/>
                </a:solidFill>
              </a:rPr>
              <a:t>Quality Gate corporativo é reportado separadamente.</a:t>
            </a:r>
            <a:endParaRPr sz="11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9F7770F-B61F-4C37-82A7-220556D9FF12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1EDD0F7-0B58-4C2E-9187-22378AC137A0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Briefing — papéis das ferramentas; Estratégia §7.</a:t>
            </a:r>
            <a:endParaRPr sz="880"/>
          </a:p>
        </p:txBody>
      </p:sp>
      <p:sp>
        <p:nvSpPr>
          <p:cNvPr id="33" name="Slide Number Placeholder 0">
            <a:extLst>
              <a:ext uri="{FF2B5EF4-FFF2-40B4-BE49-F238E27FC236}">
                <a16:creationId xmlns:a16="http://schemas.microsoft.com/office/drawing/2014/main" id="{4CBEC579-723D-4D24-8BB0-194C08F1C5F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00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53877B-43A6-4389-86A4-67060812AB49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Estado </a:t>
            </a:r>
            <a:r>
              <a:rPr sz="2800" b="1" dirty="0" err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em</a:t>
            </a:r>
            <a:r>
              <a:rPr sz="28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2</a:t>
            </a:r>
            <a:r>
              <a:rPr lang="pt-BR" sz="28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5</a:t>
            </a:r>
            <a:r>
              <a:rPr sz="28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/09/2026: </a:t>
            </a:r>
            <a:r>
              <a:rPr sz="2800" b="1" dirty="0" err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sem</a:t>
            </a:r>
            <a:r>
              <a:rPr sz="28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dirty="0" err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antecipar</a:t>
            </a:r>
            <a:r>
              <a:rPr sz="28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dirty="0" err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resultado</a:t>
            </a:r>
            <a:endParaRPr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46E730-8195-4BF3-B41C-3D0088EA449C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A apresentação distingue capacidade observada, preparação em curso e evidência ainda ausente.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3A9E18-C72E-4375-B4C3-539BB0A202E6}"/>
              </a:ext>
            </a:extLst>
          </p:cNvPr>
          <p:cNvSpPr>
            <a:spLocks noGrp="1"/>
          </p:cNvSpPr>
          <p:nvPr/>
        </p:nvSpPr>
        <p:spPr>
          <a:xfrm>
            <a:off x="566928" y="141732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EAF7EF"/>
          </a:solidFill>
          <a:ln w="12700">
            <a:solidFill>
              <a:srgbClr val="B7D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C67DB1-7865-427E-9585-BAD831EEB66C}"/>
              </a:ext>
            </a:extLst>
          </p:cNvPr>
          <p:cNvSpPr>
            <a:spLocks noGrp="1"/>
          </p:cNvSpPr>
          <p:nvPr/>
        </p:nvSpPr>
        <p:spPr>
          <a:xfrm>
            <a:off x="768096" y="161848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27864A"/>
                </a:solidFill>
              </a:rPr>
              <a:t>COMPROVADO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EF9E24-BAFC-4D67-B74B-21DFF299CF5C}"/>
              </a:ext>
            </a:extLst>
          </p:cNvPr>
          <p:cNvSpPr>
            <a:spLocks noGrp="1"/>
          </p:cNvSpPr>
          <p:nvPr/>
        </p:nvSpPr>
        <p:spPr>
          <a:xfrm>
            <a:off x="731520" y="2075688"/>
            <a:ext cx="3291840" cy="315468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build Java 8 e Sonar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em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exemplo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sintético</a:t>
            </a:r>
            <a:endParaRPr sz="1450" dirty="0"/>
          </a:p>
          <a:p>
            <a:pPr marL="177800" indent="-177800">
              <a:buSzPct val="100000"/>
              <a:buChar char="•"/>
            </a:pP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mesmo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WAR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sintético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verificado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nos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EAPs 7.1 e 7.4</a:t>
            </a:r>
            <a:endParaRPr sz="1450" dirty="0"/>
          </a:p>
          <a:p>
            <a:pPr marL="177800" indent="-177800">
              <a:buSzPct val="100000"/>
              <a:buChar char="•"/>
            </a:pP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MTA local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instalado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e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ensaiado</a:t>
            </a:r>
            <a:endParaRPr sz="1450" dirty="0"/>
          </a:p>
          <a:p>
            <a:pPr marL="177800" indent="-177800">
              <a:buSzPct val="100000"/>
              <a:buChar char="•"/>
            </a:pP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`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tag_imagem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`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editável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na</a:t>
            </a:r>
            <a:r>
              <a:rPr sz="1450" dirty="0">
                <a:solidFill>
                  <a:srgbClr val="243447"/>
                </a:solidFill>
                <a:latin typeface="Aptos"/>
                <a:ea typeface="Aptos"/>
                <a:cs typeface="Aptos"/>
              </a:rPr>
              <a:t> build do SIMTR-</a:t>
            </a:r>
            <a:r>
              <a:rPr sz="1450" dirty="0" err="1">
                <a:solidFill>
                  <a:srgbClr val="243447"/>
                </a:solidFill>
                <a:latin typeface="Aptos"/>
                <a:ea typeface="Aptos"/>
                <a:cs typeface="Aptos"/>
              </a:rPr>
              <a:t>api</a:t>
            </a:r>
            <a:endParaRPr sz="14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F5F220-B28C-4E04-B7C5-E8F72BDC8C09}"/>
              </a:ext>
            </a:extLst>
          </p:cNvPr>
          <p:cNvSpPr>
            <a:spLocks noGrp="1"/>
          </p:cNvSpPr>
          <p:nvPr/>
        </p:nvSpPr>
        <p:spPr>
          <a:xfrm>
            <a:off x="4288536" y="141732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6E5"/>
          </a:solidFill>
          <a:ln w="12700">
            <a:solidFill>
              <a:srgbClr val="F0D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999990-93DC-48F2-AADD-3EA67384BC84}"/>
              </a:ext>
            </a:extLst>
          </p:cNvPr>
          <p:cNvSpPr>
            <a:spLocks noGrp="1"/>
          </p:cNvSpPr>
          <p:nvPr/>
        </p:nvSpPr>
        <p:spPr>
          <a:xfrm>
            <a:off x="4489704" y="161848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B7791F"/>
                </a:solidFill>
              </a:rPr>
              <a:t>EM PREPARAÇÃO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A15B23-573C-4271-A72D-78F03003E35D}"/>
              </a:ext>
            </a:extLst>
          </p:cNvPr>
          <p:cNvSpPr>
            <a:spLocks noGrp="1"/>
          </p:cNvSpPr>
          <p:nvPr/>
        </p:nvSpPr>
        <p:spPr>
          <a:xfrm>
            <a:off x="4453128" y="2075688"/>
            <a:ext cx="3291840" cy="315468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aplicação integrada da demonstração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baseline Sonar ANTES da correção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triagem e agrupamento de ocorrências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receita ou ajuste específico em ensaio</a:t>
            </a:r>
            <a:endParaRPr sz="14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B980C56-0036-409F-A56E-099BE78749DF}"/>
              </a:ext>
            </a:extLst>
          </p:cNvPr>
          <p:cNvSpPr>
            <a:spLocks noGrp="1"/>
          </p:cNvSpPr>
          <p:nvPr/>
        </p:nvSpPr>
        <p:spPr>
          <a:xfrm>
            <a:off x="8010144" y="141732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DECEC"/>
          </a:solidFill>
          <a:ln w="12700">
            <a:solidFill>
              <a:srgbClr val="F2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01BACBD-3EE6-457C-ABF5-7BF7980895AD}"/>
              </a:ext>
            </a:extLst>
          </p:cNvPr>
          <p:cNvSpPr>
            <a:spLocks noGrp="1"/>
          </p:cNvSpPr>
          <p:nvPr/>
        </p:nvSpPr>
        <p:spPr>
          <a:xfrm>
            <a:off x="8211312" y="161848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B42318"/>
                </a:solidFill>
              </a:rPr>
              <a:t>PENDENTE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88E6CA-9518-4565-B726-3FB113971D23}"/>
              </a:ext>
            </a:extLst>
          </p:cNvPr>
          <p:cNvSpPr>
            <a:spLocks noGrp="1"/>
          </p:cNvSpPr>
          <p:nvPr/>
        </p:nvSpPr>
        <p:spPr>
          <a:xfrm>
            <a:off x="8174736" y="2075688"/>
            <a:ext cx="3291840" cy="315468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ciclo integrado com OpenRewrite comprovado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mesmo WAR final da demo nos dois EAPs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validação corporativa da imagem 7.4 / OKD 4</a:t>
            </a:r>
            <a:endParaRPr sz="1450"/>
          </a:p>
          <a:p>
            <a:pPr marL="177800" indent="-177800">
              <a:buSzPct val="100000"/>
              <a:buChar char="•"/>
            </a:pPr>
            <a:r>
              <a:rPr sz="1450">
                <a:solidFill>
                  <a:srgbClr val="243447"/>
                </a:solidFill>
                <a:latin typeface="Aptos"/>
                <a:ea typeface="Aptos"/>
                <a:cs typeface="Aptos"/>
              </a:rPr>
              <a:t>Outsourcing e relações entre consumidores</a:t>
            </a:r>
            <a:endParaRPr sz="14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6B820BC-0A03-44CC-B7E9-E44F834139A7}"/>
              </a:ext>
            </a:extLst>
          </p:cNvPr>
          <p:cNvSpPr>
            <a:spLocks noGrp="1"/>
          </p:cNvSpPr>
          <p:nvPr/>
        </p:nvSpPr>
        <p:spPr>
          <a:xfrm>
            <a:off x="1444752" y="5724144"/>
            <a:ext cx="9326880" cy="301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B42318"/>
                </a:solidFill>
              </a:rPr>
              <a:t>Exemplo sintético ≠ aplicação corporativa. MTA sem achados ≠ “100% migrado”.</a:t>
            </a:r>
            <a:endParaRPr sz="15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9D8065B-DA14-4F59-A69D-89FE1E2760EB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5F7490-D54D-4E3E-BD9D-661D0763EF54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Briefing — estado comprovado; Estratégia §§4 e 10; evolução OpenRewrite proposta.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0E67239-E8B9-4CCE-872E-7EC292A9C7A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52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212FD-18D7-48F5-B822-F65F63D8C2B9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71"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VS Code como central de operações da migração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BFB81F-A17C-4F8D-B7EA-04088C761D1F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Desenvolvedor aciona tarefas, vê resultados e interage com o agente no mesmo workspace.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50C584-179D-424E-8568-C609B9197647}"/>
              </a:ext>
            </a:extLst>
          </p:cNvPr>
          <p:cNvSpPr>
            <a:spLocks noGrp="1"/>
          </p:cNvSpPr>
          <p:nvPr/>
        </p:nvSpPr>
        <p:spPr>
          <a:xfrm>
            <a:off x="713232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EAF7EF"/>
          </a:solidFill>
          <a:ln w="12700">
            <a:solidFill>
              <a:srgbClr val="BBD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EC755B-CCA4-4198-AC1C-2F652C5367D1}"/>
              </a:ext>
            </a:extLst>
          </p:cNvPr>
          <p:cNvSpPr>
            <a:spLocks noGrp="1"/>
          </p:cNvSpPr>
          <p:nvPr/>
        </p:nvSpPr>
        <p:spPr>
          <a:xfrm>
            <a:off x="969264" y="1682496"/>
            <a:ext cx="2468880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27864A"/>
                </a:solidFill>
              </a:rPr>
              <a:t>JÁ DISPONÍVEL / OBSERVADO</a:t>
            </a:r>
            <a:endParaRPr sz="14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F2FE71-2DBB-4E5B-8390-FBB14B8AF64B}"/>
              </a:ext>
            </a:extLst>
          </p:cNvPr>
          <p:cNvSpPr>
            <a:spLocks noGrp="1"/>
          </p:cNvSpPr>
          <p:nvPr/>
        </p:nvSpPr>
        <p:spPr>
          <a:xfrm>
            <a:off x="932688" y="2084832"/>
            <a:ext cx="4526280" cy="306324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workspace: harness, aplicação e bibliotecas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Run Task: build e testes Java 8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MTA manual e relatório de dependências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scripts de Sonar e checkpoints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Copilot/DevSquad: análise e planejamento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B91906-4433-4A4F-9343-CBC96D2345D0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6E5"/>
          </a:solidFill>
          <a:ln w="12700">
            <a:solidFill>
              <a:srgbClr val="ECD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DB9B1D-C26A-44E0-A7D9-60B95C6FD2C4}"/>
              </a:ext>
            </a:extLst>
          </p:cNvPr>
          <p:cNvSpPr>
            <a:spLocks noGrp="1"/>
          </p:cNvSpPr>
          <p:nvPr/>
        </p:nvSpPr>
        <p:spPr>
          <a:xfrm>
            <a:off x="6492240" y="1682496"/>
            <a:ext cx="2697480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B7791F"/>
                </a:solidFill>
              </a:rPr>
              <a:t>PROPOSTA / EM IMPLEMENTAÇÃO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089B23-1DD6-4D44-AE31-C48732B94374}"/>
              </a:ext>
            </a:extLst>
          </p:cNvPr>
          <p:cNvSpPr>
            <a:spLocks noGrp="1"/>
          </p:cNvSpPr>
          <p:nvPr/>
        </p:nvSpPr>
        <p:spPr>
          <a:xfrm>
            <a:off x="6455664" y="2084832"/>
            <a:ext cx="4389120" cy="2816352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receita: teste, dryRun e run aprovados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ajuste específico: plano, diff e testes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relatórios e controle dos EAPs no workspace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Start / Stop / Deploy em implementação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ciclo integrado ainda não concluído</a:t>
            </a:r>
            <a:endParaRPr sz="15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EF7DC9-88D9-450E-876A-1A3B92F91DBC}"/>
              </a:ext>
            </a:extLst>
          </p:cNvPr>
          <p:cNvSpPr>
            <a:spLocks noGrp="1"/>
          </p:cNvSpPr>
          <p:nvPr/>
        </p:nvSpPr>
        <p:spPr>
          <a:xfrm>
            <a:off x="1225296" y="5541264"/>
            <a:ext cx="9692640" cy="512064"/>
          </a:xfrm>
          <a:prstGeom prst="roundRect">
            <a:avLst>
              <a:gd name="adj" fmla="val 1428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59D4E5-1A43-468E-AADF-213B86373C35}"/>
              </a:ext>
            </a:extLst>
          </p:cNvPr>
          <p:cNvSpPr>
            <a:spLocks noGrp="1"/>
          </p:cNvSpPr>
          <p:nvPr/>
        </p:nvSpPr>
        <p:spPr>
          <a:xfrm>
            <a:off x="1481328" y="5687568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B42318"/>
                </a:solidFill>
              </a:rPr>
              <a:t>VS Code concentra comandos e evidências; controle dos EAPs segue em implementação.</a:t>
            </a:r>
            <a:endParaRPr sz="132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924E22D-D13F-44B0-97E2-0C225EFDC59B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F32F01-2E75-47CF-850C-67112888650D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Estratégia §§4, 6 e 10; proposta de evolução do harness com OpenRewrite.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FA4187D-D8A3-4CE4-83B3-432A24F234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30394428-F1DC-E5F6-DB0C-7DE31F3D8A23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809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404E0-C6F0-43E0-83F3-0B0D8CE43693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Próximos passos: sair do laboratório e chegar ao piloto corporativo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19E652-E2AE-40BE-B4F8-A071748301AB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A estimativa de esforço nasce das primeiras evidências reais — não de uma porcentagem abstrata.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DF2AB6-4F34-446D-8F24-98623150CFAB}"/>
              </a:ext>
            </a:extLst>
          </p:cNvPr>
          <p:cNvSpPr>
            <a:spLocks noGrp="1"/>
          </p:cNvSpPr>
          <p:nvPr/>
        </p:nvSpPr>
        <p:spPr>
          <a:xfrm>
            <a:off x="786384" y="1554480"/>
            <a:ext cx="3429000" cy="1124712"/>
          </a:xfrm>
          <a:prstGeom prst="roundRect">
            <a:avLst>
              <a:gd name="adj" fmla="val 6504"/>
            </a:avLst>
          </a:prstGeom>
          <a:solidFill>
            <a:srgbClr val="E9F7F5"/>
          </a:solidFill>
          <a:ln w="12700">
            <a:solidFill>
              <a:srgbClr val="E9F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C79C56-9BA1-4948-9C86-DC190E9B55F2}"/>
              </a:ext>
            </a:extLst>
          </p:cNvPr>
          <p:cNvSpPr>
            <a:spLocks noGrp="1"/>
          </p:cNvSpPr>
          <p:nvPr/>
        </p:nvSpPr>
        <p:spPr>
          <a:xfrm>
            <a:off x="932688" y="1792224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DF98F0-4DB2-44A9-B089-B64C42014336}"/>
              </a:ext>
            </a:extLst>
          </p:cNvPr>
          <p:cNvSpPr>
            <a:spLocks noGrp="1"/>
          </p:cNvSpPr>
          <p:nvPr/>
        </p:nvSpPr>
        <p:spPr>
          <a:xfrm>
            <a:off x="932688" y="1879092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EED856-C69B-44E1-BC20-A6C1CEBAD5E3}"/>
              </a:ext>
            </a:extLst>
          </p:cNvPr>
          <p:cNvSpPr>
            <a:spLocks noGrp="1"/>
          </p:cNvSpPr>
          <p:nvPr/>
        </p:nvSpPr>
        <p:spPr>
          <a:xfrm>
            <a:off x="1536192" y="1773936"/>
            <a:ext cx="25328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243447"/>
                </a:solidFill>
              </a:rPr>
              <a:t>Ensaiar um lote completo</a:t>
            </a:r>
            <a:endParaRPr sz="1450"/>
          </a:p>
          <a:p>
            <a:pPr marL="0" indent="0">
              <a:buNone/>
            </a:pPr>
            <a:r>
              <a:rPr sz="1450" b="1">
                <a:solidFill>
                  <a:srgbClr val="243447"/>
                </a:solidFill>
              </a:rPr>
              <a:t>solução + teste + revisão</a:t>
            </a:r>
            <a:endParaRPr sz="14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EF99CE0-6015-4B63-AD3E-19741653079D}"/>
              </a:ext>
            </a:extLst>
          </p:cNvPr>
          <p:cNvSpPr>
            <a:spLocks noGrp="1"/>
          </p:cNvSpPr>
          <p:nvPr/>
        </p:nvSpPr>
        <p:spPr>
          <a:xfrm>
            <a:off x="4389120" y="1554480"/>
            <a:ext cx="3429000" cy="1124712"/>
          </a:xfrm>
          <a:prstGeom prst="roundRect">
            <a:avLst>
              <a:gd name="adj" fmla="val 650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8CDF1B-5AA0-408B-8723-5528C2139C6D}"/>
              </a:ext>
            </a:extLst>
          </p:cNvPr>
          <p:cNvSpPr>
            <a:spLocks noGrp="1"/>
          </p:cNvSpPr>
          <p:nvPr/>
        </p:nvSpPr>
        <p:spPr>
          <a:xfrm>
            <a:off x="4535424" y="1792224"/>
            <a:ext cx="475488" cy="47548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1D9FB3-8EB5-46EB-9F6D-CFCCAA8EF2E4}"/>
              </a:ext>
            </a:extLst>
          </p:cNvPr>
          <p:cNvSpPr>
            <a:spLocks noGrp="1"/>
          </p:cNvSpPr>
          <p:nvPr/>
        </p:nvSpPr>
        <p:spPr>
          <a:xfrm>
            <a:off x="4535424" y="1879092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5C9FD71-5802-4E40-877F-9123252BC349}"/>
              </a:ext>
            </a:extLst>
          </p:cNvPr>
          <p:cNvSpPr>
            <a:spLocks noGrp="1"/>
          </p:cNvSpPr>
          <p:nvPr/>
        </p:nvSpPr>
        <p:spPr>
          <a:xfrm>
            <a:off x="5138928" y="1773936"/>
            <a:ext cx="25328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243447"/>
                </a:solidFill>
              </a:rPr>
              <a:t>Padronizar máquinas da equipe</a:t>
            </a:r>
            <a:endParaRPr sz="1450"/>
          </a:p>
          <a:p>
            <a:pPr marL="0" indent="0">
              <a:buNone/>
            </a:pPr>
            <a:r>
              <a:rPr sz="1450" b="1">
                <a:solidFill>
                  <a:srgbClr val="243447"/>
                </a:solidFill>
              </a:rPr>
              <a:t>configuração e baselines corporativos</a:t>
            </a:r>
            <a:endParaRPr sz="14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5F26071-ED2D-4C9B-A1FE-B85EDBAE3300}"/>
              </a:ext>
            </a:extLst>
          </p:cNvPr>
          <p:cNvSpPr>
            <a:spLocks noGrp="1"/>
          </p:cNvSpPr>
          <p:nvPr/>
        </p:nvSpPr>
        <p:spPr>
          <a:xfrm>
            <a:off x="7991856" y="1554480"/>
            <a:ext cx="3429000" cy="1124712"/>
          </a:xfrm>
          <a:prstGeom prst="roundRect">
            <a:avLst>
              <a:gd name="adj" fmla="val 6504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86BE6B-1B3E-4333-A51B-776ECE2DF0D4}"/>
              </a:ext>
            </a:extLst>
          </p:cNvPr>
          <p:cNvSpPr>
            <a:spLocks noGrp="1"/>
          </p:cNvSpPr>
          <p:nvPr/>
        </p:nvSpPr>
        <p:spPr>
          <a:xfrm>
            <a:off x="8138160" y="1792224"/>
            <a:ext cx="475488" cy="47548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D01FD1-8D86-4387-ABED-025C711641BC}"/>
              </a:ext>
            </a:extLst>
          </p:cNvPr>
          <p:cNvSpPr>
            <a:spLocks noGrp="1"/>
          </p:cNvSpPr>
          <p:nvPr/>
        </p:nvSpPr>
        <p:spPr>
          <a:xfrm>
            <a:off x="8138160" y="1879092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803437E-3897-4BC5-B89B-C7B6B6B4C99F}"/>
              </a:ext>
            </a:extLst>
          </p:cNvPr>
          <p:cNvSpPr>
            <a:spLocks noGrp="1"/>
          </p:cNvSpPr>
          <p:nvPr/>
        </p:nvSpPr>
        <p:spPr>
          <a:xfrm>
            <a:off x="8741664" y="1773936"/>
            <a:ext cx="25328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243447"/>
                </a:solidFill>
              </a:rPr>
              <a:t>Validar runtime corporativo</a:t>
            </a:r>
            <a:endParaRPr sz="1450"/>
          </a:p>
          <a:p>
            <a:pPr marL="0" indent="0">
              <a:buNone/>
            </a:pPr>
            <a:r>
              <a:rPr sz="1450" b="1">
                <a:solidFill>
                  <a:srgbClr val="243447"/>
                </a:solidFill>
              </a:rPr>
              <a:t>imagem 7.4 + standalone + OKD</a:t>
            </a:r>
            <a:endParaRPr sz="14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3A14B3E-9E61-422B-87A5-8CE9678F1514}"/>
              </a:ext>
            </a:extLst>
          </p:cNvPr>
          <p:cNvSpPr>
            <a:spLocks noGrp="1"/>
          </p:cNvSpPr>
          <p:nvPr/>
        </p:nvSpPr>
        <p:spPr>
          <a:xfrm>
            <a:off x="4220248" y="3017520"/>
            <a:ext cx="0" cy="1536192"/>
          </a:xfrm>
          <a:prstGeom prst="line">
            <a:avLst/>
          </a:prstGeom>
          <a:noFill/>
          <a:ln w="13970">
            <a:solidFill>
              <a:srgbClr val="CF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05B128F-7E03-4C6B-9C6C-0649A10770F1}"/>
              </a:ext>
            </a:extLst>
          </p:cNvPr>
          <p:cNvSpPr>
            <a:spLocks noGrp="1"/>
          </p:cNvSpPr>
          <p:nvPr/>
        </p:nvSpPr>
        <p:spPr>
          <a:xfrm>
            <a:off x="7916953" y="3140089"/>
            <a:ext cx="0" cy="1536192"/>
          </a:xfrm>
          <a:prstGeom prst="line">
            <a:avLst/>
          </a:prstGeom>
          <a:noFill/>
          <a:ln w="13970">
            <a:solidFill>
              <a:srgbClr val="CF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6F3045C-D1EC-4985-BC3F-4021F6CB2DD8}"/>
              </a:ext>
            </a:extLst>
          </p:cNvPr>
          <p:cNvSpPr>
            <a:spLocks noGrp="1"/>
          </p:cNvSpPr>
          <p:nvPr/>
        </p:nvSpPr>
        <p:spPr>
          <a:xfrm>
            <a:off x="11451595" y="3017520"/>
            <a:ext cx="0" cy="1536192"/>
          </a:xfrm>
          <a:prstGeom prst="line">
            <a:avLst/>
          </a:prstGeom>
          <a:noFill/>
          <a:ln w="13970">
            <a:solidFill>
              <a:srgbClr val="CFD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F0349DF-5629-402E-AA50-F485D5B94D46}"/>
              </a:ext>
            </a:extLst>
          </p:cNvPr>
          <p:cNvSpPr>
            <a:spLocks noGrp="1"/>
          </p:cNvSpPr>
          <p:nvPr/>
        </p:nvSpPr>
        <p:spPr>
          <a:xfrm>
            <a:off x="868680" y="33375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607086"/>
                </a:solidFill>
              </a:rPr>
              <a:t>Evidência esperada</a:t>
            </a:r>
            <a:endParaRPr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64530C8-A10C-45E9-9488-1044FE20CA0A}"/>
              </a:ext>
            </a:extLst>
          </p:cNvPr>
          <p:cNvSpPr>
            <a:spLocks noGrp="1"/>
          </p:cNvSpPr>
          <p:nvPr/>
        </p:nvSpPr>
        <p:spPr>
          <a:xfrm>
            <a:off x="868680" y="369417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40">
                <a:solidFill>
                  <a:srgbClr val="243447"/>
                </a:solidFill>
              </a:rPr>
              <a:t>rota justificada, diff revisado e evidências MTA/Sonar posteriores</a:t>
            </a:r>
            <a:endParaRPr sz="134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B1DB26D-B1D1-4FE7-AC39-A4C80957876F}"/>
              </a:ext>
            </a:extLst>
          </p:cNvPr>
          <p:cNvSpPr>
            <a:spLocks noGrp="1"/>
          </p:cNvSpPr>
          <p:nvPr/>
        </p:nvSpPr>
        <p:spPr>
          <a:xfrm>
            <a:off x="4471416" y="33375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607086"/>
                </a:solidFill>
              </a:rPr>
              <a:t>Evidência esperada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071364E-B3CA-45EF-977E-23C7187C00C4}"/>
              </a:ext>
            </a:extLst>
          </p:cNvPr>
          <p:cNvSpPr>
            <a:spLocks noGrp="1"/>
          </p:cNvSpPr>
          <p:nvPr/>
        </p:nvSpPr>
        <p:spPr>
          <a:xfrm>
            <a:off x="4471416" y="369417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40">
                <a:solidFill>
                  <a:srgbClr val="243447"/>
                </a:solidFill>
              </a:rPr>
              <a:t>paths, JDKs, MTA, Sonar, EAPs e permissões repetíveis</a:t>
            </a:r>
            <a:endParaRPr sz="134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E957A3-B39B-4244-8A33-F6650E2E2B55}"/>
              </a:ext>
            </a:extLst>
          </p:cNvPr>
          <p:cNvSpPr>
            <a:spLocks noGrp="1"/>
          </p:cNvSpPr>
          <p:nvPr/>
        </p:nvSpPr>
        <p:spPr>
          <a:xfrm>
            <a:off x="8074152" y="33375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607086"/>
                </a:solidFill>
              </a:rPr>
              <a:t>Evidência esperada</a:t>
            </a:r>
            <a:endParaRPr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7CA775E-FAB8-46C8-BBEC-93DD30C93A87}"/>
              </a:ext>
            </a:extLst>
          </p:cNvPr>
          <p:cNvSpPr>
            <a:spLocks noGrp="1"/>
          </p:cNvSpPr>
          <p:nvPr/>
        </p:nvSpPr>
        <p:spPr>
          <a:xfrm>
            <a:off x="8074152" y="369417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40">
                <a:solidFill>
                  <a:srgbClr val="243447"/>
                </a:solidFill>
              </a:rPr>
              <a:t>build/deploy/startup + cenário funcional sem afetar produção</a:t>
            </a:r>
            <a:endParaRPr sz="134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EB98AA2-046B-4B5E-9474-04FF2C028FA6}"/>
              </a:ext>
            </a:extLst>
          </p:cNvPr>
          <p:cNvSpPr>
            <a:spLocks noGrp="1"/>
          </p:cNvSpPr>
          <p:nvPr/>
        </p:nvSpPr>
        <p:spPr>
          <a:xfrm>
            <a:off x="786384" y="4937760"/>
            <a:ext cx="106344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C174163-6909-473A-8CC4-79FC36DC72A0}"/>
              </a:ext>
            </a:extLst>
          </p:cNvPr>
          <p:cNvSpPr>
            <a:spLocks noGrp="1"/>
          </p:cNvSpPr>
          <p:nvPr/>
        </p:nvSpPr>
        <p:spPr>
          <a:xfrm>
            <a:off x="1024128" y="5212080"/>
            <a:ext cx="1325880" cy="228600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marL="0" indent="0" algn="l"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Janela de planejamento</a:t>
            </a:r>
            <a:endParaRPr sz="13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ACC900A-285F-4131-937D-755E7FC6C592}"/>
              </a:ext>
            </a:extLst>
          </p:cNvPr>
          <p:cNvSpPr>
            <a:spLocks noGrp="1"/>
          </p:cNvSpPr>
          <p:nvPr/>
        </p:nvSpPr>
        <p:spPr>
          <a:xfrm>
            <a:off x="2395728" y="5184648"/>
            <a:ext cx="1691640" cy="274320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marL="0" indent="0" algn="l">
              <a:buNone/>
            </a:pPr>
            <a:r>
              <a:rPr sz="1650" b="1">
                <a:solidFill>
                  <a:srgbClr val="2F6FEB"/>
                </a:solidFill>
                <a:latin typeface="Aptos"/>
                <a:ea typeface="Aptos"/>
                <a:cs typeface="Aptos"/>
              </a:rPr>
              <a:t>PRD até 18/12</a:t>
            </a:r>
            <a:endParaRPr sz="16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A0DFB34-EEC8-45B4-93A9-C0EADCC33099}"/>
              </a:ext>
            </a:extLst>
          </p:cNvPr>
          <p:cNvSpPr>
            <a:spLocks noGrp="1"/>
          </p:cNvSpPr>
          <p:nvPr/>
        </p:nvSpPr>
        <p:spPr>
          <a:xfrm>
            <a:off x="4343400" y="5212080"/>
            <a:ext cx="2011680" cy="228600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marL="0" indent="0" algn="l">
              <a:buNone/>
            </a:pPr>
            <a:r>
              <a:rPr sz="132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• antes do freeze de 19/12</a:t>
            </a:r>
            <a:endParaRPr sz="13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39476B0-E163-433C-855A-E440D3076373}"/>
              </a:ext>
            </a:extLst>
          </p:cNvPr>
          <p:cNvSpPr>
            <a:spLocks noGrp="1"/>
          </p:cNvSpPr>
          <p:nvPr/>
        </p:nvSpPr>
        <p:spPr>
          <a:xfrm>
            <a:off x="6446520" y="5212080"/>
            <a:ext cx="3886200" cy="2286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normAutofit/>
          </a:bodyPr>
          <a:lstStyle/>
          <a:p>
            <a:pPr marL="0" indent="0" algn="l">
              <a:buNone/>
            </a:pPr>
            <a:r>
              <a:rPr sz="132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• replanejamento contínuo por evidências</a:t>
            </a:r>
            <a:endParaRPr sz="13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9433A54-CBA2-406F-BB20-47CFB70EBCAB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AA95686-11CC-4DE6-8202-08EFC5BCB096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Briefing — fechamento; Estratégia §§3.2 e 10; evolução OpenRewrite proposta.</a:t>
            </a:r>
            <a:endParaRPr sz="880"/>
          </a:p>
        </p:txBody>
      </p:sp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9390DAC3-A95F-45AD-A461-4ACF8928B63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4DB16885-0D3F-A391-B669-3211DB3B26E8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3762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2350B-3BC4-49B9-A472-4B0B02D9FE0C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8158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Plano macro até o freeze de dezembro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A9465-BA47-4D92-87CF-5D7F104857F4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32918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134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Semanas 1 e 2: validar um lote completo. Depois, ampliar as correções das APIs.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A09F81-5584-4477-836A-F584EDB6B740}"/>
              </a:ext>
            </a:extLst>
          </p:cNvPr>
          <p:cNvSpPr>
            <a:spLocks noGrp="1"/>
          </p:cNvSpPr>
          <p:nvPr/>
        </p:nvSpPr>
        <p:spPr>
          <a:xfrm>
            <a:off x="713232" y="1508760"/>
            <a:ext cx="1975104" cy="1234440"/>
          </a:xfrm>
          <a:prstGeom prst="roundRect">
            <a:avLst/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CE254-B112-4DE6-A82A-5ACEA2C32D54}"/>
              </a:ext>
            </a:extLst>
          </p:cNvPr>
          <p:cNvSpPr>
            <a:spLocks noGrp="1"/>
          </p:cNvSpPr>
          <p:nvPr/>
        </p:nvSpPr>
        <p:spPr>
          <a:xfrm>
            <a:off x="822960" y="1591056"/>
            <a:ext cx="1755648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969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SEMANA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7C69D-4B07-4456-B4E8-8E5B3D2711E2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1755648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Preparar e medir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53FEF-7F87-43F7-9361-B95350FA9808}"/>
              </a:ext>
            </a:extLst>
          </p:cNvPr>
          <p:cNvSpPr>
            <a:spLocks noGrp="1"/>
          </p:cNvSpPr>
          <p:nvPr/>
        </p:nvSpPr>
        <p:spPr>
          <a:xfrm>
            <a:off x="822960" y="2139696"/>
            <a:ext cx="1755648" cy="47548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máquina + ferramentas</a:t>
            </a:r>
          </a:p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1 módulo, MTA e Sonar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3D3504-A035-4086-B0E7-8EDC05B1225F}"/>
              </a:ext>
            </a:extLst>
          </p:cNvPr>
          <p:cNvSpPr>
            <a:spLocks noGrp="1"/>
          </p:cNvSpPr>
          <p:nvPr/>
        </p:nvSpPr>
        <p:spPr>
          <a:xfrm>
            <a:off x="2798064" y="1508760"/>
            <a:ext cx="1975104" cy="123444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EEC03-1E7E-43E9-A943-57DA0247801D}"/>
              </a:ext>
            </a:extLst>
          </p:cNvPr>
          <p:cNvSpPr>
            <a:spLocks noGrp="1"/>
          </p:cNvSpPr>
          <p:nvPr/>
        </p:nvSpPr>
        <p:spPr>
          <a:xfrm>
            <a:off x="2907792" y="1591056"/>
            <a:ext cx="1755648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969" b="1">
                <a:solidFill>
                  <a:srgbClr val="2F6FEB"/>
                </a:solidFill>
                <a:latin typeface="Aptos"/>
                <a:ea typeface="Aptos"/>
                <a:cs typeface="Aptos"/>
              </a:rPr>
              <a:t>SEMANA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6AEFC-B9EF-4298-A632-0025B5B4CD58}"/>
              </a:ext>
            </a:extLst>
          </p:cNvPr>
          <p:cNvSpPr>
            <a:spLocks noGrp="1"/>
          </p:cNvSpPr>
          <p:nvPr/>
        </p:nvSpPr>
        <p:spPr>
          <a:xfrm>
            <a:off x="2907792" y="1828800"/>
            <a:ext cx="1755648" cy="2712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Validar o fluxo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4282E-508B-438F-8E49-B5F99F32FB2C}"/>
              </a:ext>
            </a:extLst>
          </p:cNvPr>
          <p:cNvSpPr>
            <a:spLocks noGrp="1"/>
          </p:cNvSpPr>
          <p:nvPr/>
        </p:nvSpPr>
        <p:spPr>
          <a:xfrm>
            <a:off x="2907792" y="2139696"/>
            <a:ext cx="1755648" cy="47548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1 lote completo</a:t>
            </a:r>
          </a:p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+ ajustes do harness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1CC824-D4B8-473A-A5BC-BDF98612510A}"/>
              </a:ext>
            </a:extLst>
          </p:cNvPr>
          <p:cNvSpPr>
            <a:spLocks noGrp="1"/>
          </p:cNvSpPr>
          <p:nvPr/>
        </p:nvSpPr>
        <p:spPr>
          <a:xfrm>
            <a:off x="4882896" y="1508760"/>
            <a:ext cx="2432304" cy="1234440"/>
          </a:xfrm>
          <a:prstGeom prst="round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A16E1-9E29-4A48-BE08-91AD5795BFBE}"/>
              </a:ext>
            </a:extLst>
          </p:cNvPr>
          <p:cNvSpPr>
            <a:spLocks noGrp="1"/>
          </p:cNvSpPr>
          <p:nvPr/>
        </p:nvSpPr>
        <p:spPr>
          <a:xfrm>
            <a:off x="4992624" y="1591056"/>
            <a:ext cx="2212848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969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ATÉ 3ª SEM. NOV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2D5B2-A5A2-452D-BB77-A2549A1AB955}"/>
              </a:ext>
            </a:extLst>
          </p:cNvPr>
          <p:cNvSpPr>
            <a:spLocks noGrp="1"/>
          </p:cNvSpPr>
          <p:nvPr/>
        </p:nvSpPr>
        <p:spPr>
          <a:xfrm>
            <a:off x="4992624" y="1828800"/>
            <a:ext cx="2212848" cy="27127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Ampliar as correções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89AB1A-539C-409D-86BF-BBBBEFDBD8B8}"/>
              </a:ext>
            </a:extLst>
          </p:cNvPr>
          <p:cNvSpPr>
            <a:spLocks noGrp="1"/>
          </p:cNvSpPr>
          <p:nvPr/>
        </p:nvSpPr>
        <p:spPr>
          <a:xfrm>
            <a:off x="4992624" y="2139696"/>
            <a:ext cx="2212848" cy="47548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APIs em paralelo</a:t>
            </a:r>
          </a:p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+ bibliotecas afetadas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E041624-321D-440A-A092-403288B9D5FE}"/>
              </a:ext>
            </a:extLst>
          </p:cNvPr>
          <p:cNvSpPr>
            <a:spLocks noGrp="1"/>
          </p:cNvSpPr>
          <p:nvPr/>
        </p:nvSpPr>
        <p:spPr>
          <a:xfrm>
            <a:off x="7424927" y="1508760"/>
            <a:ext cx="1975104" cy="1234440"/>
          </a:xfrm>
          <a:prstGeom prst="roundRect">
            <a:avLst/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A2A51-873B-4443-AADE-702AD8494781}"/>
              </a:ext>
            </a:extLst>
          </p:cNvPr>
          <p:cNvSpPr>
            <a:spLocks noGrp="1"/>
          </p:cNvSpPr>
          <p:nvPr/>
        </p:nvSpPr>
        <p:spPr>
          <a:xfrm>
            <a:off x="7534655" y="1591056"/>
            <a:ext cx="1755648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969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1ª–2ª SEM. DEZ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425B6-21E7-4C8F-92C3-2E969EE1D3E5}"/>
              </a:ext>
            </a:extLst>
          </p:cNvPr>
          <p:cNvSpPr>
            <a:spLocks noGrp="1"/>
          </p:cNvSpPr>
          <p:nvPr/>
        </p:nvSpPr>
        <p:spPr>
          <a:xfrm>
            <a:off x="7534655" y="1828800"/>
            <a:ext cx="1755648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Testar a versão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A45C7B-CAC9-4350-8FCF-B4D67EDA4526}"/>
              </a:ext>
            </a:extLst>
          </p:cNvPr>
          <p:cNvSpPr>
            <a:spLocks noGrp="1"/>
          </p:cNvSpPr>
          <p:nvPr/>
        </p:nvSpPr>
        <p:spPr>
          <a:xfrm>
            <a:off x="7534655" y="2139696"/>
            <a:ext cx="1755648" cy="47548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regressão + MTA/Sonar</a:t>
            </a:r>
          </a:p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+ EAP/DES/OKD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EED359B-C2D4-4EDD-96BE-9A56D5C78092}"/>
              </a:ext>
            </a:extLst>
          </p:cNvPr>
          <p:cNvSpPr>
            <a:spLocks noGrp="1"/>
          </p:cNvSpPr>
          <p:nvPr/>
        </p:nvSpPr>
        <p:spPr>
          <a:xfrm>
            <a:off x="9509760" y="1508760"/>
            <a:ext cx="1938528" cy="1234440"/>
          </a:xfrm>
          <a:prstGeom prst="roundRect">
            <a:avLst/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55B687-EB96-4AA1-8F0D-D5FB5BB7DE1C}"/>
              </a:ext>
            </a:extLst>
          </p:cNvPr>
          <p:cNvSpPr>
            <a:spLocks noGrp="1"/>
          </p:cNvSpPr>
          <p:nvPr/>
        </p:nvSpPr>
        <p:spPr>
          <a:xfrm>
            <a:off x="9619488" y="1591056"/>
            <a:ext cx="1719072" cy="20116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969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ATÉ 18/12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F27AA1-D137-4DA7-A6C9-679DAD48FFC1}"/>
              </a:ext>
            </a:extLst>
          </p:cNvPr>
          <p:cNvSpPr>
            <a:spLocks noGrp="1"/>
          </p:cNvSpPr>
          <p:nvPr/>
        </p:nvSpPr>
        <p:spPr>
          <a:xfrm>
            <a:off x="9619488" y="1828800"/>
            <a:ext cx="1719072" cy="256032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Implantar em PRD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9834A-97F8-492F-BF28-CFFB700A63E2}"/>
              </a:ext>
            </a:extLst>
          </p:cNvPr>
          <p:cNvSpPr>
            <a:spLocks noGrp="1"/>
          </p:cNvSpPr>
          <p:nvPr/>
        </p:nvSpPr>
        <p:spPr>
          <a:xfrm>
            <a:off x="9619488" y="2139696"/>
            <a:ext cx="1719072" cy="47548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buNone/>
            </a:pPr>
            <a:r>
              <a:rPr sz="1019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SIMTR-api primeiro
Outsourcing depois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C58C9BA-F9C9-40A5-A3C2-A226F76251B4}"/>
              </a:ext>
            </a:extLst>
          </p:cNvPr>
          <p:cNvSpPr>
            <a:spLocks noGrp="1"/>
          </p:cNvSpPr>
          <p:nvPr/>
        </p:nvSpPr>
        <p:spPr>
          <a:xfrm>
            <a:off x="713232" y="2898648"/>
            <a:ext cx="10735056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108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Metas: 2ª semana de novembro, 1ª versão para teste em DES/esteira; 3ª semana, correções concluídas. Reconfirmar conforme evidências.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A499F7F-0EE2-437D-9442-4C9977B92A94}"/>
              </a:ext>
            </a:extLst>
          </p:cNvPr>
          <p:cNvSpPr>
            <a:spLocks noGrp="1"/>
          </p:cNvSpPr>
          <p:nvPr/>
        </p:nvSpPr>
        <p:spPr>
          <a:xfrm>
            <a:off x="731520" y="3456432"/>
            <a:ext cx="1444752" cy="43891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l">
              <a:buNone/>
            </a:pPr>
            <a:r>
              <a:rPr sz="1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SIMTR-api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73E3AE8A-1251-4ED9-80C5-9E834943B38D}"/>
              </a:ext>
            </a:extLst>
          </p:cNvPr>
          <p:cNvSpPr>
            <a:spLocks noGrp="1"/>
          </p:cNvSpPr>
          <p:nvPr/>
        </p:nvSpPr>
        <p:spPr>
          <a:xfrm>
            <a:off x="2286000" y="3675887"/>
            <a:ext cx="8851392" cy="0"/>
          </a:xfrm>
          <a:prstGeom prst="line">
            <a:avLst/>
          </a:prstGeom>
          <a:ln w="1905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123A557-BF51-4A90-8A5C-5A9A9CF2019B}"/>
              </a:ext>
            </a:extLst>
          </p:cNvPr>
          <p:cNvSpPr>
            <a:spLocks noGrp="1"/>
          </p:cNvSpPr>
          <p:nvPr/>
        </p:nvSpPr>
        <p:spPr>
          <a:xfrm>
            <a:off x="2377440" y="3483863"/>
            <a:ext cx="297180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após S2: lotes de correção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57E7058-51A0-4AD5-A3D3-9041586A7A2B}"/>
              </a:ext>
            </a:extLst>
          </p:cNvPr>
          <p:cNvSpPr>
            <a:spLocks noGrp="1"/>
          </p:cNvSpPr>
          <p:nvPr/>
        </p:nvSpPr>
        <p:spPr>
          <a:xfrm>
            <a:off x="5541264" y="3483863"/>
            <a:ext cx="1847088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DES / esteira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4F3CA86-5827-4AA0-972F-FA2B93D92D94}"/>
              </a:ext>
            </a:extLst>
          </p:cNvPr>
          <p:cNvSpPr>
            <a:spLocks noGrp="1"/>
          </p:cNvSpPr>
          <p:nvPr/>
        </p:nvSpPr>
        <p:spPr>
          <a:xfrm>
            <a:off x="7626096" y="3483863"/>
            <a:ext cx="1773936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testes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21D73FC-1B36-4709-AB00-E91FFAD15C66}"/>
              </a:ext>
            </a:extLst>
          </p:cNvPr>
          <p:cNvSpPr>
            <a:spLocks noGrp="1"/>
          </p:cNvSpPr>
          <p:nvPr/>
        </p:nvSpPr>
        <p:spPr>
          <a:xfrm>
            <a:off x="9619488" y="3483863"/>
            <a:ext cx="1389888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PRD 1º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552AEF0-0817-4FA7-B4E3-3FEAAE809B75}"/>
              </a:ext>
            </a:extLst>
          </p:cNvPr>
          <p:cNvSpPr>
            <a:spLocks noGrp="1"/>
          </p:cNvSpPr>
          <p:nvPr/>
        </p:nvSpPr>
        <p:spPr>
          <a:xfrm>
            <a:off x="731520" y="4005072"/>
            <a:ext cx="1444752" cy="438912"/>
          </a:xfrm>
          <a:prstGeom prst="roundRect">
            <a:avLst/>
          </a:prstGeom>
          <a:solidFill>
            <a:srgbClr val="E9F7F5"/>
          </a:solidFill>
          <a:ln w="12700"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l">
              <a:buNone/>
            </a:pPr>
            <a:r>
              <a:rPr sz="1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SIMTR-Outsourcing-api</a:t>
            </a:r>
          </a:p>
        </p:txBody>
      </p:sp>
      <p:sp>
        <p:nvSpPr>
          <p:cNvPr id="32" name="Connector 31">
            <a:extLst>
              <a:ext uri="{FF2B5EF4-FFF2-40B4-BE49-F238E27FC236}">
                <a16:creationId xmlns:a16="http://schemas.microsoft.com/office/drawing/2014/main" id="{1905D7E0-B20E-4776-9171-C8B4A1DCEDAD}"/>
              </a:ext>
            </a:extLst>
          </p:cNvPr>
          <p:cNvSpPr>
            <a:spLocks noGrp="1"/>
          </p:cNvSpPr>
          <p:nvPr/>
        </p:nvSpPr>
        <p:spPr>
          <a:xfrm>
            <a:off x="2286000" y="4224528"/>
            <a:ext cx="8851392" cy="0"/>
          </a:xfrm>
          <a:prstGeom prst="line">
            <a:avLst/>
          </a:prstGeom>
          <a:ln w="1905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CA5B780-C532-4EC1-A701-D3128BE31A29}"/>
              </a:ext>
            </a:extLst>
          </p:cNvPr>
          <p:cNvSpPr>
            <a:spLocks noGrp="1"/>
          </p:cNvSpPr>
          <p:nvPr/>
        </p:nvSpPr>
        <p:spPr>
          <a:xfrm>
            <a:off x="2377440" y="4032504"/>
            <a:ext cx="2971800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após S2: lotes de correção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E02F0CA-1FCB-42DE-B637-4C2AC967C012}"/>
              </a:ext>
            </a:extLst>
          </p:cNvPr>
          <p:cNvSpPr>
            <a:spLocks noGrp="1"/>
          </p:cNvSpPr>
          <p:nvPr/>
        </p:nvSpPr>
        <p:spPr>
          <a:xfrm>
            <a:off x="5541264" y="4032504"/>
            <a:ext cx="1847088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DES / esteira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3B8DC2E-08DF-43A7-8468-267D80E72F29}"/>
              </a:ext>
            </a:extLst>
          </p:cNvPr>
          <p:cNvSpPr>
            <a:spLocks noGrp="1"/>
          </p:cNvSpPr>
          <p:nvPr/>
        </p:nvSpPr>
        <p:spPr>
          <a:xfrm>
            <a:off x="7626096" y="4032504"/>
            <a:ext cx="1773936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testes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E5357EA-6FE4-450B-BEA9-4F900B6814FA}"/>
              </a:ext>
            </a:extLst>
          </p:cNvPr>
          <p:cNvSpPr>
            <a:spLocks noGrp="1"/>
          </p:cNvSpPr>
          <p:nvPr/>
        </p:nvSpPr>
        <p:spPr>
          <a:xfrm>
            <a:off x="9619488" y="4032504"/>
            <a:ext cx="1389888" cy="3840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960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PRD 2º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2D2E8D0-43E8-4F65-A7AD-22FADAFDD983}"/>
              </a:ext>
            </a:extLst>
          </p:cNvPr>
          <p:cNvSpPr>
            <a:spLocks noGrp="1"/>
          </p:cNvSpPr>
          <p:nvPr/>
        </p:nvSpPr>
        <p:spPr>
          <a:xfrm>
            <a:off x="731520" y="4553712"/>
            <a:ext cx="1444752" cy="43891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FFF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l">
              <a:buNone/>
            </a:pPr>
            <a:r>
              <a:rPr sz="1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Bibliotecas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DA867AE-9422-4F08-99BF-710FD9ED194C}"/>
              </a:ext>
            </a:extLst>
          </p:cNvPr>
          <p:cNvSpPr>
            <a:spLocks noGrp="1"/>
          </p:cNvSpPr>
          <p:nvPr/>
        </p:nvSpPr>
        <p:spPr>
          <a:xfrm>
            <a:off x="2377440" y="4581144"/>
            <a:ext cx="863193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100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entram nos mesmos lotes quando forem origem da incompatibilidade ou tiverem consumidores afetados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B6925EB-3C18-4496-A0BC-306874FC2A9A}"/>
              </a:ext>
            </a:extLst>
          </p:cNvPr>
          <p:cNvSpPr>
            <a:spLocks noGrp="1"/>
          </p:cNvSpPr>
          <p:nvPr/>
        </p:nvSpPr>
        <p:spPr>
          <a:xfrm>
            <a:off x="713232" y="5138928"/>
            <a:ext cx="10735056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anchor="ctr"/>
          <a:lstStyle/>
          <a:p>
            <a:pPr algn="ctr">
              <a:buNone/>
            </a:pPr>
            <a:r>
              <a:rPr sz="1120" b="0">
                <a:solidFill>
                  <a:srgbClr val="243447"/>
                </a:solidFill>
                <a:latin typeface="Aptos"/>
                <a:ea typeface="Aptos"/>
                <a:cs typeface="Aptos"/>
              </a:rPr>
              <a:t>2 desenvolvedores + 1 analista DevOps; arquiteto na análise e direção. DevOps prepara esteira, EAP 7.4 e imagem OKD 4. Revisar avanços, riscos e datas em cada ciclo.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61A8E1-025B-4E91-89F3-F87A1D045C9B}"/>
              </a:ext>
            </a:extLst>
          </p:cNvPr>
          <p:cNvSpPr>
            <a:spLocks noGrp="1"/>
          </p:cNvSpPr>
          <p:nvPr/>
        </p:nvSpPr>
        <p:spPr>
          <a:xfrm>
            <a:off x="7973568" y="5943600"/>
            <a:ext cx="3474720" cy="2743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>
              <a:buNone/>
            </a:pPr>
            <a:r>
              <a:rPr sz="113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Freeze de PRD considerado: 19/12</a:t>
            </a: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1DF0D65A-752E-4491-B575-DBA51CCCB64C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ln w="1270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E061CD-4E99-4E58-9861-7DB219BD6C24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10149840" cy="18440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buNone/>
            </a:pPr>
            <a:r>
              <a:rPr sz="850" b="0">
                <a:solidFill>
                  <a:srgbClr val="8592A3"/>
                </a:solidFill>
                <a:latin typeface="Aptos"/>
                <a:ea typeface="Aptos"/>
                <a:cs typeface="Aptos"/>
              </a:rPr>
              <a:t>Planejamento inicial revisto em 25/09/2026. Data-alvo: PRD até 18/12, antes do freeze considerado para 19/12.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F5B5E4-4C62-4A4F-BB44-AB58AC48D59B}"/>
              </a:ext>
            </a:extLst>
          </p:cNvPr>
          <p:cNvSpPr>
            <a:spLocks noGrp="1"/>
          </p:cNvSpPr>
          <p:nvPr/>
        </p:nvSpPr>
        <p:spPr>
          <a:xfrm>
            <a:off x="11539728" y="6455664"/>
            <a:ext cx="320040" cy="192024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0372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212FD-18D7-48F5-B822-F65F63D8C2B9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8571"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Primeiras duas semanas: preparar e comprovar o fluxo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BFB81F-A17C-4F8D-B7EA-04088C761D1F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Um módulo real e um lote completo, com escopo revisável e solução adequada aos achados.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50C584-179D-424E-8568-C609B9197647}"/>
              </a:ext>
            </a:extLst>
          </p:cNvPr>
          <p:cNvSpPr>
            <a:spLocks noGrp="1"/>
          </p:cNvSpPr>
          <p:nvPr/>
        </p:nvSpPr>
        <p:spPr>
          <a:xfrm>
            <a:off x="713232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EAF7EF"/>
          </a:solidFill>
          <a:ln w="12700">
            <a:solidFill>
              <a:srgbClr val="BBD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EC755B-CCA4-4198-AC1C-2F652C5367D1}"/>
              </a:ext>
            </a:extLst>
          </p:cNvPr>
          <p:cNvSpPr>
            <a:spLocks noGrp="1"/>
          </p:cNvSpPr>
          <p:nvPr/>
        </p:nvSpPr>
        <p:spPr>
          <a:xfrm>
            <a:off x="969264" y="1682496"/>
            <a:ext cx="2468880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27864A"/>
                </a:solidFill>
              </a:rPr>
              <a:t>SEMANA 1: AMBIENTE E BASELINE</a:t>
            </a:r>
            <a:endParaRPr sz="14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F2FE71-2DBB-4E5B-8390-FBB14B8AF64B}"/>
              </a:ext>
            </a:extLst>
          </p:cNvPr>
          <p:cNvSpPr>
            <a:spLocks noGrp="1"/>
          </p:cNvSpPr>
          <p:nvPr/>
        </p:nvSpPr>
        <p:spPr>
          <a:xfrm>
            <a:off x="932688" y="2084832"/>
            <a:ext cx="4526280" cy="3063240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configurar VS Code, Run Tasks, JDKs e Maven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preparar MTA, Sonar e EAPs locais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selecionar um módulo e suas dependências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gerar build/testes, MTA e Sonar ANTES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DevOps inicia esteira, imagem e configuração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B91906-4433-4A4F-9343-CBC96D2345D0}"/>
              </a:ext>
            </a:extLst>
          </p:cNvPr>
          <p:cNvSpPr>
            <a:spLocks noGrp="1"/>
          </p:cNvSpPr>
          <p:nvPr/>
        </p:nvSpPr>
        <p:spPr>
          <a:xfrm>
            <a:off x="6245352" y="141732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6E5"/>
          </a:solidFill>
          <a:ln w="12700">
            <a:solidFill>
              <a:srgbClr val="ECD3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DB9B1D-C26A-44E0-A7D9-60B95C6FD2C4}"/>
              </a:ext>
            </a:extLst>
          </p:cNvPr>
          <p:cNvSpPr>
            <a:spLocks noGrp="1"/>
          </p:cNvSpPr>
          <p:nvPr/>
        </p:nvSpPr>
        <p:spPr>
          <a:xfrm>
            <a:off x="6492240" y="1682496"/>
            <a:ext cx="2697480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B7791F"/>
                </a:solidFill>
              </a:rPr>
              <a:t>SEMANA 2: UM LOTE ATÉ O FIM</a:t>
            </a:r>
            <a:endParaRPr sz="14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089B23-1DD6-4D44-AE31-C48732B94374}"/>
              </a:ext>
            </a:extLst>
          </p:cNvPr>
          <p:cNvSpPr>
            <a:spLocks noGrp="1"/>
          </p:cNvSpPr>
          <p:nvPr/>
        </p:nvSpPr>
        <p:spPr>
          <a:xfrm>
            <a:off x="6455664" y="2084832"/>
            <a:ext cx="4389120" cy="2816352"/>
          </a:xfrm>
          <a:prstGeom prst="rect">
            <a:avLst/>
          </a:prstGeom>
          <a:noFill/>
        </p:spPr>
        <p:txBody>
          <a:bodyPr wrap="square" lIns="508" tIns="508" rIns="508" bIns="508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agente agrupa ocorrências e escolhe a rota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receita ou ajuste específico, com teste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diff revisado e aplicação autorizada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MTA/Sonar DEPOIS e validação nos EAPs</a:t>
            </a:r>
            <a:endParaRPr sz="1500"/>
          </a:p>
          <a:p>
            <a:pPr marL="177800" indent="-177800">
              <a:buSzPct val="100000"/>
              <a:buChar char="•"/>
            </a:pPr>
            <a:r>
              <a:rPr sz="1500">
                <a:solidFill>
                  <a:srgbClr val="243447"/>
                </a:solidFill>
                <a:latin typeface="Aptos"/>
                <a:ea typeface="Aptos"/>
                <a:cs typeface="Aptos"/>
              </a:rPr>
              <a:t>ajustar harness, Run Tasks e roteiro</a:t>
            </a:r>
            <a:endParaRPr sz="15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EF7DC9-88D9-450E-876A-1A3B92F91DBC}"/>
              </a:ext>
            </a:extLst>
          </p:cNvPr>
          <p:cNvSpPr>
            <a:spLocks noGrp="1"/>
          </p:cNvSpPr>
          <p:nvPr/>
        </p:nvSpPr>
        <p:spPr>
          <a:xfrm>
            <a:off x="1225296" y="5541264"/>
            <a:ext cx="9692640" cy="512064"/>
          </a:xfrm>
          <a:prstGeom prst="roundRect">
            <a:avLst>
              <a:gd name="adj" fmla="val 1428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59D4E5-1A43-468E-AADF-213B86373C35}"/>
              </a:ext>
            </a:extLst>
          </p:cNvPr>
          <p:cNvSpPr>
            <a:spLocks noGrp="1"/>
          </p:cNvSpPr>
          <p:nvPr/>
        </p:nvSpPr>
        <p:spPr>
          <a:xfrm>
            <a:off x="1481328" y="5687568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B42318"/>
                </a:solidFill>
              </a:rPr>
              <a:t>Saída: um lote comprovado. Registrar separadamente as rotas ainda não ensaiadas.</a:t>
            </a:r>
            <a:endParaRPr sz="132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924E22D-D13F-44B0-97E2-0C225EFDC59B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F32F01-2E75-47CF-850C-67112888650D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Revisar o plano após o ensaio e a cada ciclo: achados, esforço real, dependências e ambientes.</a:t>
            </a:r>
            <a:endParaRPr sz="88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FA4187D-D8A3-4CE4-83B3-432A24F234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>
              <a:buNone/>
            </a:pPr>
            <a:fld id="{327921A4-25C4-3DB4-06B1-32693CEE2241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809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68C7CB-03EE-4F71-AEBE-2F1D4DEB401A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Demonstração ao vivo: do achado à decisão</a:t>
            </a:r>
            <a:endParaRPr sz="28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4B9141-606A-4E77-84A3-F8149BF5AEC9}"/>
              </a:ext>
            </a:extLst>
          </p:cNvPr>
          <p:cNvSpPr>
            <a:spLocks noGrp="1"/>
          </p:cNvSpPr>
          <p:nvPr/>
        </p:nvSpPr>
        <p:spPr>
          <a:xfrm>
            <a:off x="566928" y="8412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607086"/>
                </a:solidFill>
              </a:rPr>
              <a:t>Encerramento: mostrar somente as etapas que tenham evidência real.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71CC20-8783-4879-9959-24D3226F25CB}"/>
              </a:ext>
            </a:extLst>
          </p:cNvPr>
          <p:cNvSpPr>
            <a:spLocks noGrp="1"/>
          </p:cNvSpPr>
          <p:nvPr/>
        </p:nvSpPr>
        <p:spPr>
          <a:xfrm>
            <a:off x="749808" y="1508760"/>
            <a:ext cx="342900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F220C6-2D78-4D4D-8087-00C67F828DC1}"/>
              </a:ext>
            </a:extLst>
          </p:cNvPr>
          <p:cNvSpPr>
            <a:spLocks noGrp="1"/>
          </p:cNvSpPr>
          <p:nvPr/>
        </p:nvSpPr>
        <p:spPr>
          <a:xfrm>
            <a:off x="914400" y="1764792"/>
            <a:ext cx="502920" cy="50292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169392-6C39-4CD8-A2D4-BF3CA07EEE44}"/>
              </a:ext>
            </a:extLst>
          </p:cNvPr>
          <p:cNvSpPr>
            <a:spLocks noGrp="1"/>
          </p:cNvSpPr>
          <p:nvPr/>
        </p:nvSpPr>
        <p:spPr>
          <a:xfrm>
            <a:off x="914400" y="18745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1</a:t>
            </a:r>
            <a:endParaRPr sz="11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CDECD6-2EDF-4D04-8D4F-459D6BA2FCD6}"/>
              </a:ext>
            </a:extLst>
          </p:cNvPr>
          <p:cNvSpPr>
            <a:spLocks noGrp="1"/>
          </p:cNvSpPr>
          <p:nvPr/>
        </p:nvSpPr>
        <p:spPr>
          <a:xfrm>
            <a:off x="1572768" y="17373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Abrir ocorrências MTA</a:t>
            </a:r>
            <a:endParaRPr sz="15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E128EA-4FDF-4CA2-BAB0-D4BE92DE867C}"/>
              </a:ext>
            </a:extLst>
          </p:cNvPr>
          <p:cNvSpPr>
            <a:spLocks noGrp="1"/>
          </p:cNvSpPr>
          <p:nvPr/>
        </p:nvSpPr>
        <p:spPr>
          <a:xfrm>
            <a:off x="1572768" y="217627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regra + código + dependências</a:t>
            </a:r>
            <a:endParaRPr sz="12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B00F0C-13F9-4E17-9137-43DA48A60F23}"/>
              </a:ext>
            </a:extLst>
          </p:cNvPr>
          <p:cNvSpPr>
            <a:spLocks noGrp="1"/>
          </p:cNvSpPr>
          <p:nvPr/>
        </p:nvSpPr>
        <p:spPr>
          <a:xfrm>
            <a:off x="4498848" y="1508760"/>
            <a:ext cx="342900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29C1301-2E62-46F9-96B9-E366E589BEFB}"/>
              </a:ext>
            </a:extLst>
          </p:cNvPr>
          <p:cNvSpPr>
            <a:spLocks noGrp="1"/>
          </p:cNvSpPr>
          <p:nvPr/>
        </p:nvSpPr>
        <p:spPr>
          <a:xfrm>
            <a:off x="4663440" y="1764792"/>
            <a:ext cx="502920" cy="50292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2368E2-30E6-4D50-907B-A120FA955F91}"/>
              </a:ext>
            </a:extLst>
          </p:cNvPr>
          <p:cNvSpPr>
            <a:spLocks noGrp="1"/>
          </p:cNvSpPr>
          <p:nvPr/>
        </p:nvSpPr>
        <p:spPr>
          <a:xfrm>
            <a:off x="4663440" y="18745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2</a:t>
            </a:r>
            <a:endParaRPr sz="11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0A9845-DCF9-4005-A3BC-B0D32B4E3269}"/>
              </a:ext>
            </a:extLst>
          </p:cNvPr>
          <p:cNvSpPr>
            <a:spLocks noGrp="1"/>
          </p:cNvSpPr>
          <p:nvPr/>
        </p:nvSpPr>
        <p:spPr>
          <a:xfrm>
            <a:off x="5321808" y="17373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Explicar o lote</a:t>
            </a:r>
            <a:endParaRPr sz="15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DCE2ED7-0A55-4A35-9765-D47819E2D243}"/>
              </a:ext>
            </a:extLst>
          </p:cNvPr>
          <p:cNvSpPr>
            <a:spLocks noGrp="1"/>
          </p:cNvSpPr>
          <p:nvPr/>
        </p:nvSpPr>
        <p:spPr>
          <a:xfrm>
            <a:off x="5321808" y="217627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agrupamento + rota + teste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967F45-F8BE-413A-AD56-7E5405B7B42F}"/>
              </a:ext>
            </a:extLst>
          </p:cNvPr>
          <p:cNvSpPr>
            <a:spLocks noGrp="1"/>
          </p:cNvSpPr>
          <p:nvPr/>
        </p:nvSpPr>
        <p:spPr>
          <a:xfrm>
            <a:off x="8247888" y="1508760"/>
            <a:ext cx="342900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B0B192C-BFAE-41D8-A712-E77C743039B6}"/>
              </a:ext>
            </a:extLst>
          </p:cNvPr>
          <p:cNvSpPr>
            <a:spLocks noGrp="1"/>
          </p:cNvSpPr>
          <p:nvPr/>
        </p:nvSpPr>
        <p:spPr>
          <a:xfrm>
            <a:off x="8412480" y="1764792"/>
            <a:ext cx="502920" cy="50292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DC9871-BFB1-4364-A440-0E08E7C10B8D}"/>
              </a:ext>
            </a:extLst>
          </p:cNvPr>
          <p:cNvSpPr>
            <a:spLocks noGrp="1"/>
          </p:cNvSpPr>
          <p:nvPr/>
        </p:nvSpPr>
        <p:spPr>
          <a:xfrm>
            <a:off x="8412480" y="18745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3</a:t>
            </a:r>
            <a:endParaRPr sz="11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F9A52C-BD5E-48B0-A295-6D7E45B4E5E7}"/>
              </a:ext>
            </a:extLst>
          </p:cNvPr>
          <p:cNvSpPr>
            <a:spLocks noGrp="1"/>
          </p:cNvSpPr>
          <p:nvPr/>
        </p:nvSpPr>
        <p:spPr>
          <a:xfrm>
            <a:off x="9070848" y="17373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Mostrar Sonar ANTES</a:t>
            </a:r>
            <a:endParaRPr sz="15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D4F0B3-89F4-47AA-BE23-F190F7E696A1}"/>
              </a:ext>
            </a:extLst>
          </p:cNvPr>
          <p:cNvSpPr>
            <a:spLocks noGrp="1"/>
          </p:cNvSpPr>
          <p:nvPr/>
        </p:nvSpPr>
        <p:spPr>
          <a:xfrm>
            <a:off x="9070848" y="217627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baseline identificado</a:t>
            </a:r>
            <a:endParaRPr sz="12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D350111-F64D-4ED7-AED2-E6AA8125965E}"/>
              </a:ext>
            </a:extLst>
          </p:cNvPr>
          <p:cNvSpPr>
            <a:spLocks noGrp="1"/>
          </p:cNvSpPr>
          <p:nvPr/>
        </p:nvSpPr>
        <p:spPr>
          <a:xfrm>
            <a:off x="749808" y="3383280"/>
            <a:ext cx="342900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CDFEA0E-087A-4B4A-864B-5D0DAA0CEE16}"/>
              </a:ext>
            </a:extLst>
          </p:cNvPr>
          <p:cNvSpPr>
            <a:spLocks noGrp="1"/>
          </p:cNvSpPr>
          <p:nvPr/>
        </p:nvSpPr>
        <p:spPr>
          <a:xfrm>
            <a:off x="914400" y="3639312"/>
            <a:ext cx="502920" cy="50292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E78821E-78A4-4B29-976B-9BFD5F4634C5}"/>
              </a:ext>
            </a:extLst>
          </p:cNvPr>
          <p:cNvSpPr>
            <a:spLocks noGrp="1"/>
          </p:cNvSpPr>
          <p:nvPr/>
        </p:nvSpPr>
        <p:spPr>
          <a:xfrm>
            <a:off x="914400" y="37490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4</a:t>
            </a:r>
            <a:endParaRPr sz="11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D9B91CF-8BCC-4E75-989B-0965500B571F}"/>
              </a:ext>
            </a:extLst>
          </p:cNvPr>
          <p:cNvSpPr>
            <a:spLocks noGrp="1"/>
          </p:cNvSpPr>
          <p:nvPr/>
        </p:nvSpPr>
        <p:spPr>
          <a:xfrm>
            <a:off x="1572768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Revisar patch/diff</a:t>
            </a:r>
            <a:endParaRPr sz="15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2F415DC-DDB2-4165-8205-58531E60924E}"/>
              </a:ext>
            </a:extLst>
          </p:cNvPr>
          <p:cNvSpPr>
            <a:spLocks noGrp="1"/>
          </p:cNvSpPr>
          <p:nvPr/>
        </p:nvSpPr>
        <p:spPr>
          <a:xfrm>
            <a:off x="1572768" y="405079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dryRun ou ajuste específico</a:t>
            </a:r>
            <a:endParaRPr sz="12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3EB0C49-5131-414E-90B3-4FC3E8180267}"/>
              </a:ext>
            </a:extLst>
          </p:cNvPr>
          <p:cNvSpPr>
            <a:spLocks noGrp="1"/>
          </p:cNvSpPr>
          <p:nvPr/>
        </p:nvSpPr>
        <p:spPr>
          <a:xfrm>
            <a:off x="4498848" y="3383280"/>
            <a:ext cx="342900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C5DA63-A013-4363-8BAC-17B136ADE3F4}"/>
              </a:ext>
            </a:extLst>
          </p:cNvPr>
          <p:cNvSpPr>
            <a:spLocks noGrp="1"/>
          </p:cNvSpPr>
          <p:nvPr/>
        </p:nvSpPr>
        <p:spPr>
          <a:xfrm>
            <a:off x="4663440" y="3639312"/>
            <a:ext cx="502920" cy="50292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0F8EDD5-9ABB-47D4-B984-0EC2EC8EDEAF}"/>
              </a:ext>
            </a:extLst>
          </p:cNvPr>
          <p:cNvSpPr>
            <a:spLocks noGrp="1"/>
          </p:cNvSpPr>
          <p:nvPr/>
        </p:nvSpPr>
        <p:spPr>
          <a:xfrm>
            <a:off x="4663440" y="37490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5</a:t>
            </a:r>
            <a:endParaRPr sz="11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D3EDA70-CCF6-4849-96A9-3996C50FD626}"/>
              </a:ext>
            </a:extLst>
          </p:cNvPr>
          <p:cNvSpPr>
            <a:spLocks noGrp="1"/>
          </p:cNvSpPr>
          <p:nvPr/>
        </p:nvSpPr>
        <p:spPr>
          <a:xfrm>
            <a:off x="5321808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Aplicar e medir</a:t>
            </a:r>
            <a:endParaRPr sz="15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8A82D19-0580-4DE1-894D-D43D303369C9}"/>
              </a:ext>
            </a:extLst>
          </p:cNvPr>
          <p:cNvSpPr>
            <a:spLocks noGrp="1"/>
          </p:cNvSpPr>
          <p:nvPr/>
        </p:nvSpPr>
        <p:spPr>
          <a:xfrm>
            <a:off x="5321808" y="405079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aplicar + testes + MTA/Sonar</a:t>
            </a:r>
            <a:endParaRPr sz="12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515894E-085C-403F-A2D8-4FA903849EB3}"/>
              </a:ext>
            </a:extLst>
          </p:cNvPr>
          <p:cNvSpPr>
            <a:spLocks noGrp="1"/>
          </p:cNvSpPr>
          <p:nvPr/>
        </p:nvSpPr>
        <p:spPr>
          <a:xfrm>
            <a:off x="8247888" y="3383280"/>
            <a:ext cx="3429000" cy="1444752"/>
          </a:xfrm>
          <a:prstGeom prst="roundRect">
            <a:avLst>
              <a:gd name="adj" fmla="val 5063"/>
            </a:avLst>
          </a:prstGeom>
          <a:solidFill>
            <a:srgbClr val="E9F7F5"/>
          </a:solidFill>
          <a:ln w="12700">
            <a:solidFill>
              <a:srgbClr val="C5E5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FFAB502-38DA-4F7E-A270-0633ECA8FCC4}"/>
              </a:ext>
            </a:extLst>
          </p:cNvPr>
          <p:cNvSpPr>
            <a:spLocks noGrp="1"/>
          </p:cNvSpPr>
          <p:nvPr/>
        </p:nvSpPr>
        <p:spPr>
          <a:xfrm>
            <a:off x="8412480" y="363931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F77831D-9CC9-4F6B-AADB-C1F11D0DB1DD}"/>
              </a:ext>
            </a:extLst>
          </p:cNvPr>
          <p:cNvSpPr>
            <a:spLocks noGrp="1"/>
          </p:cNvSpPr>
          <p:nvPr/>
        </p:nvSpPr>
        <p:spPr>
          <a:xfrm>
            <a:off x="8412480" y="374904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6</a:t>
            </a:r>
            <a:endParaRPr sz="11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94F014C-BEA4-4070-B35E-A7CFED34FE2C}"/>
              </a:ext>
            </a:extLst>
          </p:cNvPr>
          <p:cNvSpPr>
            <a:spLocks noGrp="1"/>
          </p:cNvSpPr>
          <p:nvPr/>
        </p:nvSpPr>
        <p:spPr>
          <a:xfrm>
            <a:off x="9070848" y="3611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17324D"/>
                </a:solidFill>
              </a:rPr>
              <a:t>Validar nos EAPs</a:t>
            </a:r>
            <a:endParaRPr sz="155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72FF414-00B7-469B-89A9-97A72DA30F98}"/>
              </a:ext>
            </a:extLst>
          </p:cNvPr>
          <p:cNvSpPr>
            <a:spLocks noGrp="1"/>
          </p:cNvSpPr>
          <p:nvPr/>
        </p:nvSpPr>
        <p:spPr>
          <a:xfrm>
            <a:off x="9070848" y="405079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07086"/>
                </a:solidFill>
              </a:rPr>
              <a:t>mesmo WAR em 7.1 e 7.4</a:t>
            </a:r>
            <a:endParaRPr sz="12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13F521D-A751-427F-8628-E4B364C2122F}"/>
              </a:ext>
            </a:extLst>
          </p:cNvPr>
          <p:cNvSpPr>
            <a:spLocks noGrp="1"/>
          </p:cNvSpPr>
          <p:nvPr/>
        </p:nvSpPr>
        <p:spPr>
          <a:xfrm>
            <a:off x="749808" y="5422392"/>
            <a:ext cx="10927080" cy="576072"/>
          </a:xfrm>
          <a:prstGeom prst="roundRect">
            <a:avLst>
              <a:gd name="adj" fmla="val 12698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A7E3962-750B-4471-8A6B-78AAC6058538}"/>
              </a:ext>
            </a:extLst>
          </p:cNvPr>
          <p:cNvSpPr>
            <a:spLocks noGrp="1"/>
          </p:cNvSpPr>
          <p:nvPr/>
        </p:nvSpPr>
        <p:spPr>
          <a:xfrm>
            <a:off x="941832" y="5596128"/>
            <a:ext cx="105613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20" b="1">
                <a:solidFill>
                  <a:srgbClr val="B7791F"/>
                </a:solidFill>
              </a:rPr>
              <a:t>Mostrar a rota realmente executada. Identificar receitas, ajustes ou EAPs ainda pendentes.</a:t>
            </a:r>
            <a:endParaRPr sz="132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0999B9E-2B78-4FAD-B31F-6A6EA93E76D0}"/>
              </a:ext>
            </a:extLst>
          </p:cNvPr>
          <p:cNvSpPr>
            <a:spLocks noGrp="1"/>
          </p:cNvSpPr>
          <p:nvPr/>
        </p:nvSpPr>
        <p:spPr>
          <a:xfrm>
            <a:off x="566928" y="6336792"/>
            <a:ext cx="10835640" cy="0"/>
          </a:xfrm>
          <a:prstGeom prst="line">
            <a:avLst/>
          </a:prstGeom>
          <a:noFill/>
          <a:ln w="10160">
            <a:solidFill>
              <a:srgbClr val="D8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BBF008C-8291-42C1-96EC-2FEDA2DF497B}"/>
              </a:ext>
            </a:extLst>
          </p:cNvPr>
          <p:cNvSpPr>
            <a:spLocks noGrp="1"/>
          </p:cNvSpPr>
          <p:nvPr/>
        </p:nvSpPr>
        <p:spPr>
          <a:xfrm>
            <a:off x="585216" y="640080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80" i="1">
                <a:solidFill>
                  <a:srgbClr val="8592A3"/>
                </a:solidFill>
              </a:rPr>
              <a:t>Fonte: Briefing — demonstração; Estratégia §8; proposta OpenRewrite.</a:t>
            </a:r>
            <a:endParaRPr sz="880"/>
          </a:p>
        </p:txBody>
      </p:sp>
      <p:sp>
        <p:nvSpPr>
          <p:cNvPr id="38" name="Slide Number Placeholder 0">
            <a:extLst>
              <a:ext uri="{FF2B5EF4-FFF2-40B4-BE49-F238E27FC236}">
                <a16:creationId xmlns:a16="http://schemas.microsoft.com/office/drawing/2014/main" id="{82F03BA2-A2DD-4573-AF18-63F85E88298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539728" y="6455664"/>
            <a:ext cx="320040" cy="182880"/>
          </a:xfrm>
          <a:prstGeom prst="rect">
            <a:avLst/>
          </a:prstGeom>
        </p:spPr>
        <p:txBody>
          <a:bodyPr wrap="square" lIns="73152" tIns="27432" rIns="73152" bIns="27432" anchor="ctr"/>
          <a:lstStyle>
            <a:lvl1pPr>
              <a:buNone/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>
              <a:buNone/>
            </a:pPr>
            <a:r>
              <a:rPr sz="9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488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4021</Words>
  <Application>Microsoft Office PowerPoint</Application>
  <DocSecurity>0</DocSecurity>
  <PresentationFormat>Widescreen</PresentationFormat>
  <Paragraphs>387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Edoardo Bianco</cp:lastModifiedBy>
  <cp:revision>2</cp:revision>
  <dcterms:created xsi:type="dcterms:W3CDTF">2026-09-25T10:47:52Z</dcterms:created>
  <dcterms:modified xsi:type="dcterms:W3CDTF">2026-09-25T11:21:25Z</dcterms:modified>
</cp:coreProperties>
</file>